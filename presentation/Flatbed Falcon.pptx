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Hi, we are [names]. Our project is Flatbed Falcon: a PX4 drone that autonomously tracks and lands on the flatbed of a pickup truck, while the truck itself drives autonomously around a forest road. Everything runs in Gazebo with ROS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Why this problem: a truck that carries a drone extends its range, and the drone can land and recharge without the truck stopping. We set it up as two independent agents that only talk over ROS 2 topics, the way two real vehicles would over a radio. What makes it hard is that the target moves and turns, the information arrives late, and you only have a short straight stretch to land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architecture. On the left the truck: it reads the road centerline, runs Pure Pursuit with a speed profile, and sends velocity commands to Gazebo's Ackermann steering plugin. On the right the drone: target_tracker converts the truck's pose from the world ENU frame into PX4's local NED frame, and landing_controller runs the state machine and sends setpoints to PX4 in Offboard mode. The only things crossing the middle are topics: the truck's odometry and status, and the drone's landing request. All frame conversions live in one file, frames.py, which saved us from a lot of sign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world is generated by a script. It is a closed 1129 m road loop made of straights and circular arcs. The green segments are the three landing zones: straights with exactly zero curvature. We also added hard parts on purpose for path following: two hairpins, an S-curve and a tight 15 m curve. The generator writes the road centerline to a CSV with one point per meter, including curvature and which landing zone it is in. Both agents use that same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 truck follows the road with Pure Pursuit, which we reused from Lab 3. The idea: draw a circle with radius l around the rear axle, find where it crosses the road ahead, and steer along the circular arc that ends at that point. The steering angle comes from the angle alpha between the heading and the line to that point. We made the lookahead grow with speed, so at high speed the truck looks further ahead and does not oscillate, and at low speed it can still cut tight hairpins. One practical detail: Gazebo's Ackermann plugin wants a yaw rate, so we convert with omega = v tan(delta) / L. We also had to handle the wrap-around where the loop closes at s = 1129 m. [Result: lateral error X m on straights, Y m in hairpins.]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Pure Pursuit only steers, so we also need a speed. We compute a reference speed from the road curvature: the speed where lateral acceleration stays under 2 m/s², capped at 8 m/s. This plot is that profile for our actual loop. It is 8 m/s on the straights and drops to about 5.5 m/s in the tightest 15 m curves. The ramps before each dip come from looking ahead: the truck starts braking before the curve instead of in it. The blue bands are the landing zones, all at full speed, so the drone has to land at up to 8 m/s. A PI controller tracks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Now the drone. After takeoff and approach, it enters TRACK. Each setpoint we send to PX4 has three parts. Position: the predicted bed position, a short time tau ahead to make up for the delay, plus 4 m up. Velocity: the truck's own velocity as feedforward. Yaw: the truck's heading. If you only use position feedback, the drone always lags behind a moving target. With the truck's velocity as feedforward, the drone already moves at the right speed, and the feedback loop only removes the small error that is left. We started with a PD loop on the relative error and then replaced it with LQR on a double-integrator model, using solve_discrete_are like in Lab 3. [Result: X m tracking error on straights.]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Landing is a state machine. The drone only starts descending when three things hold: it is inside a landing zone, there is enough zone left for the whole descent, and the tracking error has been small for 1.5 seconds. During descent it stays inside a glide cone: the closer to the bed, the smaller the error we allow. If it leaves the cone, the zone runs out, or the target data goes stale, it aborts and climbs back to tracking height, then tries again on the next straight. For touchdown we could not use PX4's own land detector, because it assumes the ground is not moving. So we detect contact ourselves, with the bed's contact sensor, and force-disarm.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Two things make landing more robust. First, cooperation, from Lab 4: the drone asks to land, the truck answers OK when it enters a landing zone with enough room, and then it promises to hold a constant speed until the drone reports landed or aborted. That removes the hardest surprise: the truck braking mid-descent. Second, estimation, from Lab 5. Ground truth is too easy, so we add noise, delay and dropouts. A Kalman filter smooths the measurements and predicts where the bed will be a moment later. Because we know the road, the prediction follows the road. [Mention which of these you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Switch to the simulator. Narrate the four steps as they happen. Have a backup screen recording ready in case the sim is slow or the landing aborts; if it aborts live, that is fine, point out that ABORT works and it will retry on the next straight. Start the sim before the talk so Gazebo and PX4 are already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Fill in from the batch experiments. Lead with the success rate and how it changes with truck speed, since that is the most interesting result. Mention the number of aborts and that an abort followed by a successful retry still counts as a working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Three takeaways. Edit these to match what actually surprised you during the project. Then next steps: a camera and marker on the bed instead of a radio link, a latch so the drone cannot slide off in curves, and disturbances like wind.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F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70980"/>
            <a:ext cx="10566400" cy="4074220"/>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F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70980"/>
            <a:ext cx="10566400" cy="4074220"/>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p:bgPr>
    </p:bg>
    <p:spTree>
      <p:nvGrpSpPr>
        <p:cNvPr id="1" name=""/>
        <p:cNvGrpSpPr/>
        <p:nvPr/>
      </p:nvGrpSpPr>
      <p:grpSpPr>
        <a:xfrm>
          <a:off x="0" y="0"/>
          <a:ext cx="0" cy="0"/>
          <a:chOff x="0" y="0"/>
          <a:chExt cx="0" cy="0"/>
        </a:xfrm>
      </p:grpSpPr>
      <p:pic>
        <p:nvPicPr>
          <p:cNvPr id="2" name="Image 0" descr="Illustration of a drone landing on the flatbed of a moving truck">    </p:cNvPr>
          <p:cNvPicPr>
            <a:picLocks noChangeAspect="1"/>
          </p:cNvPicPr>
          <p:nvPr/>
        </p:nvPicPr>
        <p:blipFill>
          <a:blip r:embed="rId1"/>
          <a:srcRect l="0" r="0" t="-34" b="-34"/>
          <a:stretch/>
        </p:blipFill>
        <p:spPr>
          <a:xfrm>
            <a:off x="4826000" y="1143000"/>
            <a:ext cx="6985000" cy="3994150"/>
          </a:xfrm>
          <a:prstGeom prst="rect">
            <a:avLst/>
          </a:prstGeom>
        </p:spPr>
      </p:pic>
      <p:sp>
        <p:nvSpPr>
          <p:cNvPr id="3"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AUTONOMOUS VEHICLES · PROJECT</a:t>
            </a:r>
            <a:endParaRPr lang="en-US" sz="1400" dirty="0"/>
          </a:p>
        </p:txBody>
      </p:sp>
      <p:sp>
        <p:nvSpPr>
          <p:cNvPr id="4" name="Text 1"/>
          <p:cNvSpPr/>
          <p:nvPr>
            <p:ph type="title"/>
          </p:nvPr>
        </p:nvSpPr>
        <p:spPr>
          <a:xfrm>
            <a:off x="812800" y="2120900"/>
            <a:ext cx="4970780" cy="1752600"/>
          </a:xfrm>
          <a:prstGeom prst="rect">
            <a:avLst/>
          </a:prstGeom>
          <a:noFill/>
          <a:ln/>
        </p:spPr>
        <p:txBody>
          <a:bodyPr wrap="square" lIns="0" tIns="0" rIns="0" bIns="0" rtlCol="0" anchor="t">
            <a:normAutofit/>
          </a:bodyPr>
          <a:lstStyle/>
          <a:p>
            <a:pPr algn="l" indent="0" marL="0">
              <a:lnSpc>
                <a:spcPts val="6800"/>
              </a:lnSpc>
              <a:buNone/>
            </a:pPr>
            <a:r>
              <a:rPr lang="en-US" sz="6800" b="1" i="0" spc="-150" kern="0" dirty="0">
                <a:solidFill>
                  <a:srgbClr val="0F1B2D"/>
                </a:solidFill>
                <a:latin typeface="Space Grotesk" pitchFamily="34" charset="0"/>
                <a:ea typeface="Space Grotesk" pitchFamily="34" charset="-122"/>
                <a:cs typeface="Space Grotesk" pitchFamily="34" charset="-120"/>
              </a:rPr>
              <a:t>Flatbed Falcon</a:t>
            </a:r>
            <a:endParaRPr lang="en-US" sz="6800" dirty="0"/>
          </a:p>
        </p:txBody>
      </p:sp>
      <p:sp>
        <p:nvSpPr>
          <p:cNvPr id="5" name="Text 2"/>
          <p:cNvSpPr/>
          <p:nvPr/>
        </p:nvSpPr>
        <p:spPr>
          <a:xfrm>
            <a:off x="812800" y="4051300"/>
            <a:ext cx="497078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A5C"/>
                </a:solidFill>
                <a:latin typeface="IBM Plex Sans" pitchFamily="34" charset="0"/>
                <a:ea typeface="IBM Plex Sans" pitchFamily="34" charset="-122"/>
                <a:cs typeface="IBM Plex Sans" pitchFamily="34" charset="-120"/>
              </a:rPr>
              <a:t>A drone that lands on a moving truck. Both drive themselves.</a:t>
            </a:r>
            <a:endParaRPr lang="en-US" sz="2000" dirty="0"/>
          </a:p>
        </p:txBody>
      </p:sp>
      <p:sp>
        <p:nvSpPr>
          <p:cNvPr id="6"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[Team names]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THE IDEA</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Land a drone on a truck that never stops</a:t>
            </a:r>
            <a:endParaRPr lang="en-US" sz="3600" dirty="0"/>
          </a:p>
        </p:txBody>
      </p:sp>
      <p:sp>
        <p:nvSpPr>
          <p:cNvPr id="4" name="Shape 2"/>
          <p:cNvSpPr/>
          <p:nvPr/>
        </p:nvSpPr>
        <p:spPr>
          <a:xfrm>
            <a:off x="815975" y="2075755"/>
            <a:ext cx="3380284" cy="3763070"/>
          </a:xfrm>
          <a:prstGeom prst="roundRect">
            <a:avLst>
              <a:gd name="adj" fmla="val 3663"/>
            </a:avLst>
          </a:prstGeom>
          <a:solidFill>
            <a:srgbClr val="FBFBF8"/>
          </a:solidFill>
          <a:ln w="6350">
            <a:solidFill>
              <a:srgbClr val="DCDAD2"/>
            </a:solidFill>
            <a:prstDash val="solid"/>
          </a:ln>
        </p:spPr>
      </p:sp>
      <p:pic>
        <p:nvPicPr>
          <p:cNvPr id="5" name="Image 0" descr="Globe">    </p:cNvPr>
          <p:cNvPicPr>
            <a:picLocks noChangeAspect="1"/>
          </p:cNvPicPr>
          <p:nvPr/>
        </p:nvPicPr>
        <p:blipFill>
          <a:blip r:embed="rId1"/>
          <a:srcRect l="0" r="0" t="0" b="0"/>
          <a:stretch/>
        </p:blipFill>
        <p:spPr>
          <a:xfrm>
            <a:off x="1123950" y="2383730"/>
            <a:ext cx="406400" cy="406400"/>
          </a:xfrm>
          <a:prstGeom prst="rect">
            <a:avLst/>
          </a:prstGeom>
        </p:spPr>
      </p:pic>
      <p:sp>
        <p:nvSpPr>
          <p:cNvPr id="6" name="Text 3"/>
          <p:cNvSpPr/>
          <p:nvPr/>
        </p:nvSpPr>
        <p:spPr>
          <a:xfrm>
            <a:off x="1123950" y="2917130"/>
            <a:ext cx="284726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Space Grotesk" pitchFamily="34" charset="0"/>
                <a:ea typeface="Space Grotesk" pitchFamily="34" charset="-122"/>
                <a:cs typeface="Space Grotesk" pitchFamily="34" charset="-120"/>
              </a:rPr>
              <a:t>Why</a:t>
            </a:r>
            <a:endParaRPr lang="en-US" sz="2200" dirty="0"/>
          </a:p>
        </p:txBody>
      </p:sp>
      <p:sp>
        <p:nvSpPr>
          <p:cNvPr id="7" name="Text 4"/>
          <p:cNvSpPr/>
          <p:nvPr/>
        </p:nvSpPr>
        <p:spPr>
          <a:xfrm>
            <a:off x="1123950" y="3379391"/>
            <a:ext cx="2847264"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A truck can carry and recharge a drone. Delivery, inspection and search drones could return to it without the truck stopping.</a:t>
            </a:r>
            <a:endParaRPr lang="en-US" sz="1600" dirty="0"/>
          </a:p>
        </p:txBody>
      </p:sp>
      <p:sp>
        <p:nvSpPr>
          <p:cNvPr id="8" name="Shape 5"/>
          <p:cNvSpPr/>
          <p:nvPr/>
        </p:nvSpPr>
        <p:spPr>
          <a:xfrm>
            <a:off x="4405809" y="2075755"/>
            <a:ext cx="3380333" cy="3763070"/>
          </a:xfrm>
          <a:prstGeom prst="roundRect">
            <a:avLst>
              <a:gd name="adj" fmla="val 3663"/>
            </a:avLst>
          </a:prstGeom>
          <a:solidFill>
            <a:srgbClr val="FBFBF8"/>
          </a:solidFill>
          <a:ln w="6350">
            <a:solidFill>
              <a:srgbClr val="DCDAD2"/>
            </a:solidFill>
            <a:prstDash val="solid"/>
          </a:ln>
        </p:spPr>
      </p:sp>
      <p:pic>
        <p:nvPicPr>
          <p:cNvPr id="9" name="Image 1" descr="Users">    </p:cNvPr>
          <p:cNvPicPr>
            <a:picLocks noChangeAspect="1"/>
          </p:cNvPicPr>
          <p:nvPr/>
        </p:nvPicPr>
        <p:blipFill>
          <a:blip r:embed="rId2"/>
          <a:srcRect l="0" r="0" t="0" b="0"/>
          <a:stretch/>
        </p:blipFill>
        <p:spPr>
          <a:xfrm>
            <a:off x="4713784" y="2383730"/>
            <a:ext cx="406400" cy="406400"/>
          </a:xfrm>
          <a:prstGeom prst="rect">
            <a:avLst/>
          </a:prstGeom>
        </p:spPr>
      </p:pic>
      <p:sp>
        <p:nvSpPr>
          <p:cNvPr id="10" name="Text 6"/>
          <p:cNvSpPr/>
          <p:nvPr/>
        </p:nvSpPr>
        <p:spPr>
          <a:xfrm>
            <a:off x="4713784" y="2917130"/>
            <a:ext cx="28473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Space Grotesk" pitchFamily="34" charset="0"/>
                <a:ea typeface="Space Grotesk" pitchFamily="34" charset="-122"/>
                <a:cs typeface="Space Grotesk" pitchFamily="34" charset="-120"/>
              </a:rPr>
              <a:t>Two agents</a:t>
            </a:r>
            <a:endParaRPr lang="en-US" sz="2200" dirty="0"/>
          </a:p>
        </p:txBody>
      </p:sp>
      <p:sp>
        <p:nvSpPr>
          <p:cNvPr id="11" name="Text 7"/>
          <p:cNvSpPr/>
          <p:nvPr/>
        </p:nvSpPr>
        <p:spPr>
          <a:xfrm>
            <a:off x="4713784" y="3379391"/>
            <a:ext cx="2847315"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Truck and drone are separate autonomous vehicles. They share state only over ROS 2 topics, like a radio link.</a:t>
            </a:r>
            <a:endParaRPr lang="en-US" sz="1600" dirty="0"/>
          </a:p>
        </p:txBody>
      </p:sp>
      <p:sp>
        <p:nvSpPr>
          <p:cNvPr id="12" name="Shape 8"/>
          <p:cNvSpPr/>
          <p:nvPr/>
        </p:nvSpPr>
        <p:spPr>
          <a:xfrm>
            <a:off x="7995692" y="2075755"/>
            <a:ext cx="3380333" cy="3763070"/>
          </a:xfrm>
          <a:prstGeom prst="roundRect">
            <a:avLst>
              <a:gd name="adj" fmla="val 3663"/>
            </a:avLst>
          </a:prstGeom>
          <a:solidFill>
            <a:srgbClr val="FBFBF8"/>
          </a:solidFill>
          <a:ln w="6350">
            <a:solidFill>
              <a:srgbClr val="DCDAD2"/>
            </a:solidFill>
            <a:prstDash val="solid"/>
          </a:ln>
        </p:spPr>
      </p:sp>
      <p:pic>
        <p:nvPicPr>
          <p:cNvPr id="13" name="Image 2" descr="Warning">    </p:cNvPr>
          <p:cNvPicPr>
            <a:picLocks noChangeAspect="1"/>
          </p:cNvPicPr>
          <p:nvPr/>
        </p:nvPicPr>
        <p:blipFill>
          <a:blip r:embed="rId3"/>
          <a:srcRect l="0" r="0" t="0" b="0"/>
          <a:stretch/>
        </p:blipFill>
        <p:spPr>
          <a:xfrm>
            <a:off x="8303667" y="2383730"/>
            <a:ext cx="406400" cy="406400"/>
          </a:xfrm>
          <a:prstGeom prst="rect">
            <a:avLst/>
          </a:prstGeom>
        </p:spPr>
      </p:pic>
      <p:sp>
        <p:nvSpPr>
          <p:cNvPr id="14" name="Text 9"/>
          <p:cNvSpPr/>
          <p:nvPr/>
        </p:nvSpPr>
        <p:spPr>
          <a:xfrm>
            <a:off x="8303667" y="2917130"/>
            <a:ext cx="28473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Space Grotesk" pitchFamily="34" charset="0"/>
                <a:ea typeface="Space Grotesk" pitchFamily="34" charset="-122"/>
                <a:cs typeface="Space Grotesk" pitchFamily="34" charset="-120"/>
              </a:rPr>
              <a:t>Why it's hard</a:t>
            </a:r>
            <a:endParaRPr lang="en-US" sz="2200" dirty="0"/>
          </a:p>
        </p:txBody>
      </p:sp>
      <p:sp>
        <p:nvSpPr>
          <p:cNvPr id="15" name="Text 10"/>
          <p:cNvSpPr/>
          <p:nvPr/>
        </p:nvSpPr>
        <p:spPr>
          <a:xfrm>
            <a:off x="8303667" y="3379391"/>
            <a:ext cx="2847315"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A moving target, curves, link delay, and short straight windows where landing is safe.</a:t>
            </a:r>
            <a:endParaRPr lang="en-US" sz="1600" dirty="0"/>
          </a:p>
        </p:txBody>
      </p:sp>
      <p:sp>
        <p:nvSpPr>
          <p:cNvPr id="16" name="Text 11"/>
          <p:cNvSpPr/>
          <p:nvPr/>
        </p:nvSpPr>
        <p:spPr>
          <a:xfrm>
            <a:off x="812800" y="6238280"/>
            <a:ext cx="14647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Flatbed Falcon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SYSTEM OVERVIEW</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Two agents, connected only by topics</a:t>
            </a:r>
            <a:endParaRPr lang="en-US" sz="3600" dirty="0"/>
          </a:p>
        </p:txBody>
      </p:sp>
      <p:sp>
        <p:nvSpPr>
          <p:cNvPr id="4" name="Shape 2"/>
          <p:cNvSpPr/>
          <p:nvPr/>
        </p:nvSpPr>
        <p:spPr>
          <a:xfrm>
            <a:off x="819150" y="2541885"/>
            <a:ext cx="3683000" cy="2780010"/>
          </a:xfrm>
          <a:prstGeom prst="roundRect">
            <a:avLst>
              <a:gd name="adj" fmla="val 4340"/>
            </a:avLst>
          </a:prstGeom>
          <a:solidFill>
            <a:srgbClr val="FBFBF8"/>
          </a:solidFill>
          <a:ln w="12700">
            <a:solidFill>
              <a:srgbClr val="C2581A"/>
            </a:solidFill>
            <a:prstDash val="solid"/>
          </a:ln>
        </p:spPr>
      </p:sp>
      <p:sp>
        <p:nvSpPr>
          <p:cNvPr id="5" name="Text 3"/>
          <p:cNvSpPr/>
          <p:nvPr/>
        </p:nvSpPr>
        <p:spPr>
          <a:xfrm>
            <a:off x="1079500" y="2802235"/>
            <a:ext cx="325716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A6481A"/>
                </a:solidFill>
                <a:latin typeface="Space Grotesk" pitchFamily="34" charset="0"/>
                <a:ea typeface="Space Grotesk" pitchFamily="34" charset="-122"/>
                <a:cs typeface="Space Grotesk" pitchFamily="34" charset="-120"/>
              </a:rPr>
              <a:t>Truck agent</a:t>
            </a:r>
            <a:endParaRPr lang="en-US" sz="2200" dirty="0"/>
          </a:p>
        </p:txBody>
      </p:sp>
      <p:sp>
        <p:nvSpPr>
          <p:cNvPr id="6" name="Text 4"/>
          <p:cNvSpPr/>
          <p:nvPr/>
        </p:nvSpPr>
        <p:spPr>
          <a:xfrm>
            <a:off x="1079500" y="3264495"/>
            <a:ext cx="3257169"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IBM Plex Sans" pitchFamily="34" charset="0"/>
                <a:ea typeface="IBM Plex Sans" pitchFamily="34" charset="-122"/>
                <a:cs typeface="IBM Plex Sans" pitchFamily="34" charset="-120"/>
              </a:rPr>
              <a:t>road_centerline.csv</a:t>
            </a:r>
            <a:endParaRPr lang="en-US" sz="1500" dirty="0"/>
          </a:p>
          <a:p>
            <a:pPr algn="l" indent="0" marL="0">
              <a:lnSpc>
                <a:spcPts val="2025"/>
              </a:lnSpc>
              <a:buNone/>
            </a:pPr>
            <a:r>
              <a:rPr lang="en-US" sz="1500" dirty="0">
                <a:solidFill>
                  <a:srgbClr val="3D4A5C"/>
                </a:solidFill>
                <a:latin typeface="IBM Plex Sans" pitchFamily="34" charset="0"/>
                <a:ea typeface="IBM Plex Sans" pitchFamily="34" charset="-122"/>
                <a:cs typeface="IBM Plex Sans" pitchFamily="34" charset="-120"/>
              </a:rPr>
              <a:t>1 point per meter</a:t>
            </a:r>
            <a:endParaRPr lang="en-US" sz="1500" dirty="0"/>
          </a:p>
        </p:txBody>
      </p:sp>
      <p:sp>
        <p:nvSpPr>
          <p:cNvPr id="7" name="Text 5"/>
          <p:cNvSpPr/>
          <p:nvPr/>
        </p:nvSpPr>
        <p:spPr>
          <a:xfrm>
            <a:off x="1079500" y="3905845"/>
            <a:ext cx="3257169"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IBM Plex Sans" pitchFamily="34" charset="0"/>
                <a:ea typeface="IBM Plex Sans" pitchFamily="34" charset="-122"/>
                <a:cs typeface="IBM Plex Sans" pitchFamily="34" charset="-120"/>
              </a:rPr>
              <a:t>truck_driver</a:t>
            </a:r>
            <a:endParaRPr lang="en-US" sz="1500" dirty="0"/>
          </a:p>
          <a:p>
            <a:pPr algn="l" indent="0" marL="0">
              <a:lnSpc>
                <a:spcPts val="2025"/>
              </a:lnSpc>
              <a:buNone/>
            </a:pPr>
            <a:r>
              <a:rPr lang="en-US" sz="1500" dirty="0">
                <a:solidFill>
                  <a:srgbClr val="3D4A5C"/>
                </a:solidFill>
                <a:latin typeface="IBM Plex Sans" pitchFamily="34" charset="0"/>
                <a:ea typeface="IBM Plex Sans" pitchFamily="34" charset="-122"/>
                <a:cs typeface="IBM Plex Sans" pitchFamily="34" charset="-120"/>
              </a:rPr>
              <a:t>Pure Pursuit + speed profile</a:t>
            </a:r>
            <a:endParaRPr lang="en-US" sz="1500" dirty="0"/>
          </a:p>
        </p:txBody>
      </p:sp>
      <p:sp>
        <p:nvSpPr>
          <p:cNvPr id="8" name="Text 6"/>
          <p:cNvSpPr/>
          <p:nvPr/>
        </p:nvSpPr>
        <p:spPr>
          <a:xfrm>
            <a:off x="1079500" y="4547195"/>
            <a:ext cx="3257169"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IBM Plex Sans" pitchFamily="34" charset="0"/>
                <a:ea typeface="IBM Plex Sans" pitchFamily="34" charset="-122"/>
                <a:cs typeface="IBM Plex Sans" pitchFamily="34" charset="-120"/>
              </a:rPr>
              <a:t>Gazebo Ackermann plugin</a:t>
            </a:r>
            <a:endParaRPr lang="en-US" sz="1500" dirty="0"/>
          </a:p>
          <a:p>
            <a:pPr algn="l" indent="0" marL="0">
              <a:lnSpc>
                <a:spcPts val="2025"/>
              </a:lnSpc>
              <a:buNone/>
            </a:pPr>
            <a:r>
              <a:rPr lang="en-US" sz="1500" dirty="0">
                <a:solidFill>
                  <a:srgbClr val="3D4A5C"/>
                </a:solidFill>
                <a:latin typeface="IBM Plex Sans" pitchFamily="34" charset="0"/>
                <a:ea typeface="IBM Plex Sans" pitchFamily="34" charset="-122"/>
                <a:cs typeface="IBM Plex Sans" pitchFamily="34" charset="-120"/>
              </a:rPr>
              <a:t>/truck/cmd_vel</a:t>
            </a:r>
            <a:endParaRPr lang="en-US" sz="1500" dirty="0"/>
          </a:p>
        </p:txBody>
      </p:sp>
      <p:sp>
        <p:nvSpPr>
          <p:cNvPr id="9" name="Text 7"/>
          <p:cNvSpPr/>
          <p:nvPr/>
        </p:nvSpPr>
        <p:spPr>
          <a:xfrm>
            <a:off x="5391869" y="2771130"/>
            <a:ext cx="1408212"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/truck/odom</a:t>
            </a:r>
            <a:endParaRPr lang="en-US" sz="1400" dirty="0"/>
          </a:p>
        </p:txBody>
      </p:sp>
      <p:pic>
        <p:nvPicPr>
          <p:cNvPr id="10" name="Image 0" descr="arrow-right">    </p:cNvPr>
          <p:cNvPicPr>
            <a:picLocks noChangeAspect="1"/>
          </p:cNvPicPr>
          <p:nvPr/>
        </p:nvPicPr>
        <p:blipFill>
          <a:blip r:embed="rId1"/>
          <a:srcRect l="0" r="0" t="0" b="0"/>
          <a:stretch/>
        </p:blipFill>
        <p:spPr>
          <a:xfrm>
            <a:off x="5143500" y="3197820"/>
            <a:ext cx="1905000" cy="228600"/>
          </a:xfrm>
          <a:prstGeom prst="rect">
            <a:avLst/>
          </a:prstGeom>
        </p:spPr>
      </p:pic>
      <p:sp>
        <p:nvSpPr>
          <p:cNvPr id="11" name="Text 8"/>
          <p:cNvSpPr/>
          <p:nvPr/>
        </p:nvSpPr>
        <p:spPr>
          <a:xfrm>
            <a:off x="5263872" y="3604220"/>
            <a:ext cx="1664256"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/truck/status</a:t>
            </a:r>
            <a:endParaRPr lang="en-US" sz="1400" dirty="0"/>
          </a:p>
        </p:txBody>
      </p:sp>
      <p:pic>
        <p:nvPicPr>
          <p:cNvPr id="12" name="Image 1" descr="arrow-right">    </p:cNvPr>
          <p:cNvPicPr>
            <a:picLocks noChangeAspect="1"/>
          </p:cNvPicPr>
          <p:nvPr/>
        </p:nvPicPr>
        <p:blipFill>
          <a:blip r:embed="rId2"/>
          <a:srcRect l="0" r="0" t="0" b="0"/>
          <a:stretch/>
        </p:blipFill>
        <p:spPr>
          <a:xfrm>
            <a:off x="5143500" y="4030911"/>
            <a:ext cx="1905000" cy="228600"/>
          </a:xfrm>
          <a:prstGeom prst="rect">
            <a:avLst/>
          </a:prstGeom>
        </p:spPr>
      </p:pic>
      <p:pic>
        <p:nvPicPr>
          <p:cNvPr id="13" name="Image 2" descr="arrow-left">    </p:cNvPr>
          <p:cNvPicPr>
            <a:picLocks noChangeAspect="1"/>
          </p:cNvPicPr>
          <p:nvPr/>
        </p:nvPicPr>
        <p:blipFill>
          <a:blip r:embed="rId3"/>
          <a:srcRect l="0" r="0" t="0" b="0"/>
          <a:stretch/>
        </p:blipFill>
        <p:spPr>
          <a:xfrm>
            <a:off x="5143500" y="4437311"/>
            <a:ext cx="1905000" cy="228600"/>
          </a:xfrm>
          <a:prstGeom prst="rect">
            <a:avLst/>
          </a:prstGeom>
        </p:spPr>
      </p:pic>
      <p:sp>
        <p:nvSpPr>
          <p:cNvPr id="14" name="Text 9"/>
          <p:cNvSpPr/>
          <p:nvPr/>
        </p:nvSpPr>
        <p:spPr>
          <a:xfrm>
            <a:off x="5135880" y="4843711"/>
            <a:ext cx="1920240"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/falcon/request</a:t>
            </a:r>
            <a:endParaRPr lang="en-US" sz="1400" dirty="0"/>
          </a:p>
        </p:txBody>
      </p:sp>
      <p:sp>
        <p:nvSpPr>
          <p:cNvPr id="15" name="Shape 10"/>
          <p:cNvSpPr/>
          <p:nvPr/>
        </p:nvSpPr>
        <p:spPr>
          <a:xfrm>
            <a:off x="7689850" y="2541885"/>
            <a:ext cx="3683000" cy="2780010"/>
          </a:xfrm>
          <a:prstGeom prst="roundRect">
            <a:avLst>
              <a:gd name="adj" fmla="val 4340"/>
            </a:avLst>
          </a:prstGeom>
          <a:solidFill>
            <a:srgbClr val="FBFBF8"/>
          </a:solidFill>
          <a:ln w="12700">
            <a:solidFill>
              <a:srgbClr val="1F5FAF"/>
            </a:solidFill>
            <a:prstDash val="solid"/>
          </a:ln>
        </p:spPr>
      </p:sp>
      <p:sp>
        <p:nvSpPr>
          <p:cNvPr id="16" name="Text 11"/>
          <p:cNvSpPr/>
          <p:nvPr/>
        </p:nvSpPr>
        <p:spPr>
          <a:xfrm>
            <a:off x="7950200" y="2802235"/>
            <a:ext cx="325716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5FAF"/>
                </a:solidFill>
                <a:latin typeface="Space Grotesk" pitchFamily="34" charset="0"/>
                <a:ea typeface="Space Grotesk" pitchFamily="34" charset="-122"/>
                <a:cs typeface="Space Grotesk" pitchFamily="34" charset="-120"/>
              </a:rPr>
              <a:t>Drone agent</a:t>
            </a:r>
            <a:endParaRPr lang="en-US" sz="2200" dirty="0"/>
          </a:p>
        </p:txBody>
      </p:sp>
      <p:sp>
        <p:nvSpPr>
          <p:cNvPr id="17" name="Text 12"/>
          <p:cNvSpPr/>
          <p:nvPr/>
        </p:nvSpPr>
        <p:spPr>
          <a:xfrm>
            <a:off x="7950200" y="3264495"/>
            <a:ext cx="3257169"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IBM Plex Sans" pitchFamily="34" charset="0"/>
                <a:ea typeface="IBM Plex Sans" pitchFamily="34" charset="-122"/>
                <a:cs typeface="IBM Plex Sans" pitchFamily="34" charset="-120"/>
              </a:rPr>
              <a:t>target_tracker</a:t>
            </a:r>
            <a:endParaRPr lang="en-US" sz="1500" dirty="0"/>
          </a:p>
          <a:p>
            <a:pPr algn="l" indent="0" marL="0">
              <a:lnSpc>
                <a:spcPts val="2025"/>
              </a:lnSpc>
              <a:buNone/>
            </a:pPr>
            <a:r>
              <a:rPr lang="en-US" sz="1500" dirty="0">
                <a:solidFill>
                  <a:srgbClr val="3D4A5C"/>
                </a:solidFill>
                <a:latin typeface="IBM Plex Sans" pitchFamily="34" charset="0"/>
                <a:ea typeface="IBM Plex Sans" pitchFamily="34" charset="-122"/>
                <a:cs typeface="IBM Plex Sans" pitchFamily="34" charset="-120"/>
              </a:rPr>
              <a:t>ENU → NED, filter, prediction</a:t>
            </a:r>
            <a:endParaRPr lang="en-US" sz="1500" dirty="0"/>
          </a:p>
        </p:txBody>
      </p:sp>
      <p:sp>
        <p:nvSpPr>
          <p:cNvPr id="18" name="Text 13"/>
          <p:cNvSpPr/>
          <p:nvPr/>
        </p:nvSpPr>
        <p:spPr>
          <a:xfrm>
            <a:off x="7950200" y="3905845"/>
            <a:ext cx="3257169"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IBM Plex Sans" pitchFamily="34" charset="0"/>
                <a:ea typeface="IBM Plex Sans" pitchFamily="34" charset="-122"/>
                <a:cs typeface="IBM Plex Sans" pitchFamily="34" charset="-120"/>
              </a:rPr>
              <a:t>landing_controller</a:t>
            </a:r>
            <a:endParaRPr lang="en-US" sz="1500" dirty="0"/>
          </a:p>
          <a:p>
            <a:pPr algn="l" indent="0" marL="0">
              <a:lnSpc>
                <a:spcPts val="2025"/>
              </a:lnSpc>
              <a:buNone/>
            </a:pPr>
            <a:r>
              <a:rPr lang="en-US" sz="1500" dirty="0">
                <a:solidFill>
                  <a:srgbClr val="3D4A5C"/>
                </a:solidFill>
                <a:latin typeface="IBM Plex Sans" pitchFamily="34" charset="0"/>
                <a:ea typeface="IBM Plex Sans" pitchFamily="34" charset="-122"/>
                <a:cs typeface="IBM Plex Sans" pitchFamily="34" charset="-120"/>
              </a:rPr>
              <a:t>state machine + tracking</a:t>
            </a:r>
            <a:endParaRPr lang="en-US" sz="1500" dirty="0"/>
          </a:p>
        </p:txBody>
      </p:sp>
      <p:sp>
        <p:nvSpPr>
          <p:cNvPr id="19" name="Text 14"/>
          <p:cNvSpPr/>
          <p:nvPr/>
        </p:nvSpPr>
        <p:spPr>
          <a:xfrm>
            <a:off x="7950200" y="4547195"/>
            <a:ext cx="3257169"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IBM Plex Sans" pitchFamily="34" charset="0"/>
                <a:ea typeface="IBM Plex Sans" pitchFamily="34" charset="-122"/>
                <a:cs typeface="IBM Plex Sans" pitchFamily="34" charset="-120"/>
              </a:rPr>
              <a:t>PX4 Offboard (x500)</a:t>
            </a:r>
            <a:endParaRPr lang="en-US" sz="1500" dirty="0"/>
          </a:p>
          <a:p>
            <a:pPr algn="l" indent="0" marL="0">
              <a:lnSpc>
                <a:spcPts val="2025"/>
              </a:lnSpc>
              <a:buNone/>
            </a:pPr>
            <a:r>
              <a:rPr lang="en-US" sz="1500" dirty="0">
                <a:solidFill>
                  <a:srgbClr val="3D4A5C"/>
                </a:solidFill>
                <a:latin typeface="IBM Plex Sans" pitchFamily="34" charset="0"/>
                <a:ea typeface="IBM Plex Sans" pitchFamily="34" charset="-122"/>
                <a:cs typeface="IBM Plex Sans" pitchFamily="34" charset="-120"/>
              </a:rPr>
              <a:t>/fmu/in/*</a:t>
            </a:r>
            <a:endParaRPr lang="en-US" sz="1500" dirty="0"/>
          </a:p>
        </p:txBody>
      </p:sp>
      <p:sp>
        <p:nvSpPr>
          <p:cNvPr id="20" name="Text 15"/>
          <p:cNvSpPr/>
          <p:nvPr/>
        </p:nvSpPr>
        <p:spPr>
          <a:xfrm>
            <a:off x="812800" y="6238280"/>
            <a:ext cx="72943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Flatbed Falcon · 3 · ROS 2 Jazzy · PX4 · Gazebo · a logger node records every topic to CSV</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815975" y="815975"/>
            <a:ext cx="5086350" cy="5086350"/>
          </a:xfrm>
          <a:prstGeom prst="roundRect">
            <a:avLst>
              <a:gd name="adj" fmla="val 2434"/>
            </a:avLst>
          </a:prstGeom>
          <a:solidFill>
            <a:srgbClr val="FBFBF8"/>
          </a:solidFill>
          <a:ln w="6350">
            <a:solidFill>
              <a:srgbClr val="DCDAD2"/>
            </a:solidFill>
            <a:prstDash val="solid"/>
          </a:ln>
        </p:spPr>
      </p:sp>
      <p:pic>
        <p:nvPicPr>
          <p:cNvPr id="3" name="Image 0" descr="Map of the 1.1 km road loop with three landing zones marked in green">    </p:cNvPr>
          <p:cNvPicPr>
            <a:picLocks noChangeAspect="1"/>
          </p:cNvPicPr>
          <p:nvPr/>
        </p:nvPicPr>
        <p:blipFill>
          <a:blip r:embed="rId1"/>
          <a:srcRect l="0" r="0" t="0" b="0"/>
          <a:stretch/>
        </p:blipFill>
        <p:spPr>
          <a:xfrm>
            <a:off x="869950" y="869950"/>
            <a:ext cx="4978400" cy="4978400"/>
          </a:xfrm>
          <a:prstGeom prst="rect">
            <a:avLst/>
          </a:prstGeom>
        </p:spPr>
      </p:pic>
      <p:sp>
        <p:nvSpPr>
          <p:cNvPr id="4" name="Text 1"/>
          <p:cNvSpPr/>
          <p:nvPr/>
        </p:nvSpPr>
        <p:spPr>
          <a:xfrm>
            <a:off x="6362700" y="812800"/>
            <a:ext cx="5166995"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THE WORLD</a:t>
            </a:r>
            <a:endParaRPr lang="en-US" sz="1400" dirty="0"/>
          </a:p>
        </p:txBody>
      </p:sp>
      <p:sp>
        <p:nvSpPr>
          <p:cNvPr id="5" name="Text 2"/>
          <p:cNvSpPr/>
          <p:nvPr>
            <p:ph type="title"/>
          </p:nvPr>
        </p:nvSpPr>
        <p:spPr>
          <a:xfrm>
            <a:off x="6362700" y="1163290"/>
            <a:ext cx="5166995"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A 1.1 km forest loop</a:t>
            </a:r>
            <a:endParaRPr lang="en-US" sz="3600" dirty="0"/>
          </a:p>
        </p:txBody>
      </p:sp>
      <p:sp>
        <p:nvSpPr>
          <p:cNvPr id="6" name="Text 3"/>
          <p:cNvSpPr/>
          <p:nvPr/>
        </p:nvSpPr>
        <p:spPr>
          <a:xfrm>
            <a:off x="6362700" y="1920180"/>
            <a:ext cx="516699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F1B2D"/>
                </a:solidFill>
                <a:latin typeface="Space Grotesk" pitchFamily="34" charset="0"/>
                <a:ea typeface="Space Grotesk" pitchFamily="34" charset="-122"/>
                <a:cs typeface="Space Grotesk" pitchFamily="34" charset="-120"/>
              </a:rPr>
              <a:t>3 landing zones</a:t>
            </a:r>
            <a:endParaRPr lang="en-US" sz="2200" dirty="0"/>
          </a:p>
        </p:txBody>
      </p:sp>
      <p:sp>
        <p:nvSpPr>
          <p:cNvPr id="7" name="Text 4"/>
          <p:cNvSpPr/>
          <p:nvPr/>
        </p:nvSpPr>
        <p:spPr>
          <a:xfrm>
            <a:off x="6362700" y="2362101"/>
            <a:ext cx="516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IBM Plex Sans" pitchFamily="34" charset="0"/>
                <a:ea typeface="IBM Plex Sans" pitchFamily="34" charset="-122"/>
                <a:cs typeface="IBM Plex Sans" pitchFamily="34" charset="-120"/>
              </a:rPr>
              <a:t>Straights with zero curvature: 160 m, 109 m and 131 m, marked with posts.</a:t>
            </a:r>
            <a:endParaRPr lang="en-US" sz="1500" dirty="0"/>
          </a:p>
        </p:txBody>
      </p:sp>
      <p:sp>
        <p:nvSpPr>
          <p:cNvPr id="8" name="Text 5"/>
          <p:cNvSpPr/>
          <p:nvPr/>
        </p:nvSpPr>
        <p:spPr>
          <a:xfrm>
            <a:off x="6362700" y="3149501"/>
            <a:ext cx="516699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F1B2D"/>
                </a:solidFill>
                <a:latin typeface="Space Grotesk" pitchFamily="34" charset="0"/>
                <a:ea typeface="Space Grotesk" pitchFamily="34" charset="-122"/>
                <a:cs typeface="Space Grotesk" pitchFamily="34" charset="-120"/>
              </a:rPr>
              <a:t>Hard parts on purpose</a:t>
            </a:r>
            <a:endParaRPr lang="en-US" sz="2200" dirty="0"/>
          </a:p>
        </p:txBody>
      </p:sp>
      <p:sp>
        <p:nvSpPr>
          <p:cNvPr id="9" name="Text 6"/>
          <p:cNvSpPr/>
          <p:nvPr/>
        </p:nvSpPr>
        <p:spPr>
          <a:xfrm>
            <a:off x="6362700" y="3591421"/>
            <a:ext cx="516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IBM Plex Sans" pitchFamily="34" charset="0"/>
                <a:ea typeface="IBM Plex Sans" pitchFamily="34" charset="-122"/>
                <a:cs typeface="IBM Plex Sans" pitchFamily="34" charset="-120"/>
              </a:rPr>
              <a:t>Two 180° hairpins, an S-curve and a tight 15 m crest curve.</a:t>
            </a:r>
            <a:endParaRPr lang="en-US" sz="1500" dirty="0"/>
          </a:p>
        </p:txBody>
      </p:sp>
      <p:sp>
        <p:nvSpPr>
          <p:cNvPr id="10" name="Text 7"/>
          <p:cNvSpPr/>
          <p:nvPr/>
        </p:nvSpPr>
        <p:spPr>
          <a:xfrm>
            <a:off x="6362700" y="4378821"/>
            <a:ext cx="516699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F1B2D"/>
                </a:solidFill>
                <a:latin typeface="Space Grotesk" pitchFamily="34" charset="0"/>
                <a:ea typeface="Space Grotesk" pitchFamily="34" charset="-122"/>
                <a:cs typeface="Space Grotesk" pitchFamily="34" charset="-120"/>
              </a:rPr>
              <a:t>One source of truth</a:t>
            </a:r>
            <a:endParaRPr lang="en-US" sz="2200" dirty="0"/>
          </a:p>
        </p:txBody>
      </p:sp>
      <p:sp>
        <p:nvSpPr>
          <p:cNvPr id="11" name="Text 8"/>
          <p:cNvSpPr/>
          <p:nvPr/>
        </p:nvSpPr>
        <p:spPr>
          <a:xfrm>
            <a:off x="6362700" y="4820741"/>
            <a:ext cx="516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IBM Plex Sans" pitchFamily="34" charset="0"/>
                <a:ea typeface="IBM Plex Sans" pitchFamily="34" charset="-122"/>
                <a:cs typeface="IBM Plex Sans" pitchFamily="34" charset="-120"/>
              </a:rPr>
              <a:t>The generator exports the centerline (s, x, y, heading, curvature, zone) for both agents.</a:t>
            </a:r>
            <a:endParaRPr lang="en-US" sz="1500" dirty="0"/>
          </a:p>
        </p:txBody>
      </p:sp>
      <p:sp>
        <p:nvSpPr>
          <p:cNvPr id="12" name="Text 9"/>
          <p:cNvSpPr/>
          <p:nvPr/>
        </p:nvSpPr>
        <p:spPr>
          <a:xfrm>
            <a:off x="10158611" y="6238280"/>
            <a:ext cx="14647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Flatbed Falcon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EE"/>
        </a:solidFill>
      </p:bgPr>
    </p:bg>
    <p:spTree>
      <p:nvGrpSpPr>
        <p:cNvPr id="1" name=""/>
        <p:cNvGrpSpPr/>
        <p:nvPr/>
      </p:nvGrpSpPr>
      <p:grpSpPr>
        <a:xfrm>
          <a:off x="0" y="0"/>
          <a:ext cx="0" cy="0"/>
          <a:chOff x="0" y="0"/>
          <a:chExt cx="0" cy="0"/>
        </a:xfrm>
      </p:grpSpPr>
      <p:pic>
        <p:nvPicPr>
          <p:cNvPr id="2" name="Image 0" descr="Pure Pursuit geometry: the truck aims at a point on the path one lookahead distance ahead and follows the circular arc to it">    </p:cNvPr>
          <p:cNvPicPr>
            <a:picLocks noChangeAspect="1"/>
          </p:cNvPicPr>
          <p:nvPr/>
        </p:nvPicPr>
        <p:blipFill>
          <a:blip r:embed="rId1"/>
          <a:srcRect l="0" r="0" t="0" b="0"/>
          <a:stretch/>
        </p:blipFill>
        <p:spPr>
          <a:xfrm>
            <a:off x="812800" y="1905000"/>
            <a:ext cx="4826000" cy="4064000"/>
          </a:xfrm>
          <a:prstGeom prst="rect">
            <a:avLst/>
          </a:prstGeom>
        </p:spPr>
      </p:pic>
      <p:sp>
        <p:nvSpPr>
          <p:cNvPr id="3"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2581A"/>
                </a:solidFill>
                <a:latin typeface="IBM Plex Sans" pitchFamily="34" charset="0"/>
                <a:ea typeface="IBM Plex Sans" pitchFamily="34" charset="-122"/>
                <a:cs typeface="IBM Plex Sans" pitchFamily="34" charset="-120"/>
              </a:rPr>
              <a:t>TRUCK · LATERAL CONTROL</a:t>
            </a:r>
            <a:endParaRPr lang="en-US" sz="1400" dirty="0"/>
          </a:p>
        </p:txBody>
      </p:sp>
      <p:sp>
        <p:nvSpPr>
          <p:cNvPr id="4"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Pure Pursuit: chase a point on the road</a:t>
            </a:r>
            <a:endParaRPr lang="en-US" sz="3600" dirty="0"/>
          </a:p>
        </p:txBody>
      </p:sp>
      <p:sp>
        <p:nvSpPr>
          <p:cNvPr id="5" name="Text 2"/>
          <p:cNvSpPr/>
          <p:nvPr/>
        </p:nvSpPr>
        <p:spPr>
          <a:xfrm>
            <a:off x="4445000" y="4445000"/>
            <a:ext cx="1574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AF"/>
                </a:solidFill>
                <a:latin typeface="IBM Plex Sans" pitchFamily="34" charset="0"/>
                <a:ea typeface="IBM Plex Sans" pitchFamily="34" charset="-122"/>
                <a:cs typeface="IBM Plex Sans" pitchFamily="34" charset="-120"/>
              </a:rPr>
              <a:t>pursuit point</a:t>
            </a:r>
            <a:endParaRPr lang="en-US" sz="1400" dirty="0"/>
          </a:p>
        </p:txBody>
      </p:sp>
      <p:sp>
        <p:nvSpPr>
          <p:cNvPr id="6" name="Text 3"/>
          <p:cNvSpPr/>
          <p:nvPr/>
        </p:nvSpPr>
        <p:spPr>
          <a:xfrm>
            <a:off x="5016500" y="2540000"/>
            <a:ext cx="8128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6481A"/>
                </a:solidFill>
                <a:latin typeface="IBM Plex Sans" pitchFamily="34" charset="0"/>
                <a:ea typeface="IBM Plex Sans" pitchFamily="34" charset="-122"/>
                <a:cs typeface="IBM Plex Sans" pitchFamily="34" charset="-120"/>
              </a:rPr>
              <a:t>road</a:t>
            </a:r>
            <a:endParaRPr lang="en-US" sz="1400" dirty="0"/>
          </a:p>
        </p:txBody>
      </p:sp>
      <p:sp>
        <p:nvSpPr>
          <p:cNvPr id="7" name="Text 4"/>
          <p:cNvSpPr/>
          <p:nvPr/>
        </p:nvSpPr>
        <p:spPr>
          <a:xfrm>
            <a:off x="2667000" y="5016500"/>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l</a:t>
            </a:r>
            <a:endParaRPr lang="en-US" sz="1600" dirty="0"/>
          </a:p>
        </p:txBody>
      </p:sp>
      <p:sp>
        <p:nvSpPr>
          <p:cNvPr id="8" name="Text 5"/>
          <p:cNvSpPr/>
          <p:nvPr/>
        </p:nvSpPr>
        <p:spPr>
          <a:xfrm>
            <a:off x="2794000" y="4667250"/>
            <a:ext cx="43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α</a:t>
            </a:r>
            <a:endParaRPr lang="en-US" sz="1600" dirty="0"/>
          </a:p>
        </p:txBody>
      </p:sp>
      <p:sp>
        <p:nvSpPr>
          <p:cNvPr id="9" name="Text 6"/>
          <p:cNvSpPr/>
          <p:nvPr/>
        </p:nvSpPr>
        <p:spPr>
          <a:xfrm>
            <a:off x="952500" y="5461000"/>
            <a:ext cx="17018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rear axle</a:t>
            </a:r>
            <a:endParaRPr lang="en-US" sz="1400" dirty="0"/>
          </a:p>
        </p:txBody>
      </p:sp>
      <p:sp>
        <p:nvSpPr>
          <p:cNvPr id="10" name="Shape 7"/>
          <p:cNvSpPr/>
          <p:nvPr/>
        </p:nvSpPr>
        <p:spPr>
          <a:xfrm>
            <a:off x="6149975" y="2098675"/>
            <a:ext cx="5226050" cy="981670"/>
          </a:xfrm>
          <a:prstGeom prst="roundRect">
            <a:avLst>
              <a:gd name="adj" fmla="val 10026"/>
            </a:avLst>
          </a:prstGeom>
          <a:solidFill>
            <a:srgbClr val="FBFBF8"/>
          </a:solidFill>
          <a:ln w="6350">
            <a:solidFill>
              <a:srgbClr val="DCDAD2"/>
            </a:solidFill>
            <a:prstDash val="solid"/>
          </a:ln>
        </p:spPr>
      </p:sp>
      <p:sp>
        <p:nvSpPr>
          <p:cNvPr id="11" name="Text 8"/>
          <p:cNvSpPr/>
          <p:nvPr/>
        </p:nvSpPr>
        <p:spPr>
          <a:xfrm>
            <a:off x="6381750" y="2279650"/>
            <a:ext cx="4905375"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1B2D"/>
                </a:solidFill>
                <a:latin typeface="JetBrains Mono" pitchFamily="49" charset="0"/>
                <a:ea typeface="JetBrains Mono" pitchFamily="49" charset="-122"/>
                <a:cs typeface="JetBrains Mono" pitchFamily="49" charset="-120"/>
              </a:rPr>
              <a:t>δ = atan(2L·sin α / l)</a:t>
            </a:r>
            <a:endParaRPr lang="en-US" sz="1800" dirty="0"/>
          </a:p>
        </p:txBody>
      </p:sp>
      <p:sp>
        <p:nvSpPr>
          <p:cNvPr id="12" name="Text 9"/>
          <p:cNvSpPr/>
          <p:nvPr/>
        </p:nvSpPr>
        <p:spPr>
          <a:xfrm>
            <a:off x="6381750" y="2650480"/>
            <a:ext cx="49053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Steer along the arc that hits the pursuit point</a:t>
            </a:r>
            <a:endParaRPr lang="en-US" sz="1400" dirty="0"/>
          </a:p>
        </p:txBody>
      </p:sp>
      <p:sp>
        <p:nvSpPr>
          <p:cNvPr id="13" name="Shape 10"/>
          <p:cNvSpPr/>
          <p:nvPr/>
        </p:nvSpPr>
        <p:spPr>
          <a:xfrm>
            <a:off x="6149975" y="3264495"/>
            <a:ext cx="5226050" cy="981670"/>
          </a:xfrm>
          <a:prstGeom prst="roundRect">
            <a:avLst>
              <a:gd name="adj" fmla="val 10026"/>
            </a:avLst>
          </a:prstGeom>
          <a:solidFill>
            <a:srgbClr val="FBFBF8"/>
          </a:solidFill>
          <a:ln w="6350">
            <a:solidFill>
              <a:srgbClr val="DCDAD2"/>
            </a:solidFill>
            <a:prstDash val="solid"/>
          </a:ln>
        </p:spPr>
      </p:sp>
      <p:sp>
        <p:nvSpPr>
          <p:cNvPr id="14" name="Text 11"/>
          <p:cNvSpPr/>
          <p:nvPr/>
        </p:nvSpPr>
        <p:spPr>
          <a:xfrm>
            <a:off x="6381750" y="3445470"/>
            <a:ext cx="4905375"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1B2D"/>
                </a:solidFill>
                <a:latin typeface="JetBrains Mono" pitchFamily="49" charset="0"/>
                <a:ea typeface="JetBrains Mono" pitchFamily="49" charset="-122"/>
                <a:cs typeface="JetBrains Mono" pitchFamily="49" charset="-120"/>
              </a:rPr>
              <a:t>l = 3 m + 0.8 s · v</a:t>
            </a:r>
            <a:endParaRPr lang="en-US" sz="1800" dirty="0"/>
          </a:p>
        </p:txBody>
      </p:sp>
      <p:sp>
        <p:nvSpPr>
          <p:cNvPr id="15" name="Text 12"/>
          <p:cNvSpPr/>
          <p:nvPr/>
        </p:nvSpPr>
        <p:spPr>
          <a:xfrm>
            <a:off x="6381750" y="3816300"/>
            <a:ext cx="49911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Look further ahead at higher speed: smoother, less twitchy</a:t>
            </a:r>
            <a:endParaRPr lang="en-US" sz="1400" dirty="0"/>
          </a:p>
        </p:txBody>
      </p:sp>
      <p:sp>
        <p:nvSpPr>
          <p:cNvPr id="16" name="Shape 13"/>
          <p:cNvSpPr/>
          <p:nvPr/>
        </p:nvSpPr>
        <p:spPr>
          <a:xfrm>
            <a:off x="6149975" y="4430316"/>
            <a:ext cx="5226050" cy="1230561"/>
          </a:xfrm>
          <a:prstGeom prst="roundRect">
            <a:avLst>
              <a:gd name="adj" fmla="val 7998"/>
            </a:avLst>
          </a:prstGeom>
          <a:solidFill>
            <a:srgbClr val="FBFBF8"/>
          </a:solidFill>
          <a:ln w="6350">
            <a:solidFill>
              <a:srgbClr val="DCDAD2"/>
            </a:solidFill>
            <a:prstDash val="solid"/>
          </a:ln>
        </p:spPr>
      </p:sp>
      <p:sp>
        <p:nvSpPr>
          <p:cNvPr id="17" name="Text 14"/>
          <p:cNvSpPr/>
          <p:nvPr/>
        </p:nvSpPr>
        <p:spPr>
          <a:xfrm>
            <a:off x="6381750" y="4611291"/>
            <a:ext cx="4905375"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1B2D"/>
                </a:solidFill>
                <a:latin typeface="JetBrains Mono" pitchFamily="49" charset="0"/>
                <a:ea typeface="JetBrains Mono" pitchFamily="49" charset="-122"/>
                <a:cs typeface="JetBrains Mono" pitchFamily="49" charset="-120"/>
              </a:rPr>
              <a:t>ω = v · tan δ / L</a:t>
            </a:r>
            <a:endParaRPr lang="en-US" sz="1800" dirty="0"/>
          </a:p>
        </p:txBody>
      </p:sp>
      <p:sp>
        <p:nvSpPr>
          <p:cNvPr id="18" name="Text 15"/>
          <p:cNvSpPr/>
          <p:nvPr/>
        </p:nvSpPr>
        <p:spPr>
          <a:xfrm>
            <a:off x="6381750" y="4982121"/>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The Ackermann plugin takes a yaw rate, not a steering angle</a:t>
            </a:r>
            <a:endParaRPr lang="en-US" sz="1400" dirty="0"/>
          </a:p>
        </p:txBody>
      </p:sp>
      <p:sp>
        <p:nvSpPr>
          <p:cNvPr id="19" name="Text 16"/>
          <p:cNvSpPr/>
          <p:nvPr/>
        </p:nvSpPr>
        <p:spPr>
          <a:xfrm>
            <a:off x="6669137" y="6238280"/>
            <a:ext cx="55228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Reused from Lab 3: SplinePath + PurePursuitController · L ≈ 3.0 m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2581A"/>
                </a:solidFill>
                <a:latin typeface="IBM Plex Sans" pitchFamily="34" charset="0"/>
                <a:ea typeface="IBM Plex Sans" pitchFamily="34" charset="-122"/>
                <a:cs typeface="IBM Plex Sans" pitchFamily="34" charset="-120"/>
              </a:rPr>
              <a:t>TRUCK · SPEED CONTROL</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Slow down before the curves</a:t>
            </a:r>
            <a:endParaRPr lang="en-US" sz="3600" dirty="0"/>
          </a:p>
        </p:txBody>
      </p:sp>
      <p:sp>
        <p:nvSpPr>
          <p:cNvPr id="4" name="Text 2"/>
          <p:cNvSpPr/>
          <p:nvPr/>
        </p:nvSpPr>
        <p:spPr>
          <a:xfrm>
            <a:off x="812800" y="1869380"/>
            <a:ext cx="57912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1B2D"/>
                </a:solidFill>
                <a:latin typeface="JetBrains Mono" pitchFamily="49" charset="0"/>
                <a:ea typeface="JetBrains Mono" pitchFamily="49" charset="-122"/>
                <a:cs typeface="JetBrains Mono" pitchFamily="49" charset="-120"/>
              </a:rPr>
              <a:t>v_ref(s) = min(v_max, √(a_lat / |κ(s)|))</a:t>
            </a:r>
            <a:endParaRPr lang="en-US" sz="1800" dirty="0"/>
          </a:p>
        </p:txBody>
      </p:sp>
      <p:sp>
        <p:nvSpPr>
          <p:cNvPr id="5" name="Text 3"/>
          <p:cNvSpPr/>
          <p:nvPr/>
        </p:nvSpPr>
        <p:spPr>
          <a:xfrm>
            <a:off x="6604050" y="1904950"/>
            <a:ext cx="395614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8 m/s max · 2 m/s² lateral · PI speed loop</a:t>
            </a:r>
            <a:endParaRPr lang="en-US" sz="1400" dirty="0"/>
          </a:p>
        </p:txBody>
      </p:sp>
      <p:pic>
        <p:nvPicPr>
          <p:cNvPr id="6" name="Image 0" descr="Speed reference along one lap: 8 m/s on straights and landing zones, dropping to about 5.5 m/s in the tightest curves, with braking ramps before each curve">    </p:cNvPr>
          <p:cNvPicPr>
            <a:picLocks noChangeAspect="1"/>
          </p:cNvPicPr>
          <p:nvPr/>
        </p:nvPicPr>
        <p:blipFill>
          <a:blip r:embed="rId1"/>
          <a:srcRect l="-49" r="-49" t="0" b="0"/>
          <a:stretch/>
        </p:blipFill>
        <p:spPr>
          <a:xfrm>
            <a:off x="1473200" y="2984500"/>
            <a:ext cx="9906000" cy="1981200"/>
          </a:xfrm>
          <a:prstGeom prst="rect">
            <a:avLst/>
          </a:prstGeom>
        </p:spPr>
      </p:pic>
      <p:sp>
        <p:nvSpPr>
          <p:cNvPr id="7" name="Text 4"/>
          <p:cNvSpPr/>
          <p:nvPr/>
        </p:nvSpPr>
        <p:spPr>
          <a:xfrm>
            <a:off x="558800" y="309245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8 m/s</a:t>
            </a:r>
            <a:endParaRPr lang="en-US" sz="1200" dirty="0"/>
          </a:p>
        </p:txBody>
      </p:sp>
      <p:sp>
        <p:nvSpPr>
          <p:cNvPr id="8" name="Text 5"/>
          <p:cNvSpPr/>
          <p:nvPr/>
        </p:nvSpPr>
        <p:spPr>
          <a:xfrm>
            <a:off x="558800" y="397510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4 m/s</a:t>
            </a:r>
            <a:endParaRPr lang="en-US" sz="1200" dirty="0"/>
          </a:p>
        </p:txBody>
      </p:sp>
      <p:sp>
        <p:nvSpPr>
          <p:cNvPr id="9" name="Text 6"/>
          <p:cNvSpPr/>
          <p:nvPr/>
        </p:nvSpPr>
        <p:spPr>
          <a:xfrm>
            <a:off x="558800" y="485775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0</a:t>
            </a:r>
            <a:endParaRPr lang="en-US" sz="1200" dirty="0"/>
          </a:p>
        </p:txBody>
      </p:sp>
      <p:sp>
        <p:nvSpPr>
          <p:cNvPr id="10" name="Text 7"/>
          <p:cNvSpPr/>
          <p:nvPr/>
        </p:nvSpPr>
        <p:spPr>
          <a:xfrm>
            <a:off x="1949450" y="5080000"/>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Landing zone 0</a:t>
            </a:r>
            <a:endParaRPr lang="en-US" sz="1200" dirty="0"/>
          </a:p>
        </p:txBody>
      </p:sp>
      <p:sp>
        <p:nvSpPr>
          <p:cNvPr id="11" name="Text 8"/>
          <p:cNvSpPr/>
          <p:nvPr/>
        </p:nvSpPr>
        <p:spPr>
          <a:xfrm>
            <a:off x="8801100" y="5080000"/>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Zone 1</a:t>
            </a:r>
            <a:endParaRPr lang="en-US" sz="1200" dirty="0"/>
          </a:p>
        </p:txBody>
      </p:sp>
      <p:sp>
        <p:nvSpPr>
          <p:cNvPr id="12" name="Text 9"/>
          <p:cNvSpPr/>
          <p:nvPr/>
        </p:nvSpPr>
        <p:spPr>
          <a:xfrm>
            <a:off x="10242550" y="5080000"/>
            <a:ext cx="11874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Zone 2</a:t>
            </a:r>
            <a:endParaRPr lang="en-US" sz="1200" dirty="0"/>
          </a:p>
        </p:txBody>
      </p:sp>
      <p:sp>
        <p:nvSpPr>
          <p:cNvPr id="13" name="Text 10"/>
          <p:cNvSpPr/>
          <p:nvPr/>
        </p:nvSpPr>
        <p:spPr>
          <a:xfrm>
            <a:off x="3743325" y="5080000"/>
            <a:ext cx="45783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distance along the loop, 0 → 1129 m</a:t>
            </a:r>
            <a:endParaRPr lang="en-US" sz="1200" dirty="0"/>
          </a:p>
        </p:txBody>
      </p:sp>
      <p:sp>
        <p:nvSpPr>
          <p:cNvPr id="14" name="Text 11"/>
          <p:cNvSpPr/>
          <p:nvPr/>
        </p:nvSpPr>
        <p:spPr>
          <a:xfrm>
            <a:off x="5700167" y="6238280"/>
            <a:ext cx="64918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Computed from road_centerline.csv · braking ramps at 1 m/s² · ≈ 2.6 min per lap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DRONE · TRACKING FLIGHT</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Fly to where the bed will be</a:t>
            </a:r>
            <a:endParaRPr lang="en-US" sz="3600" dirty="0"/>
          </a:p>
        </p:txBody>
      </p:sp>
      <p:sp>
        <p:nvSpPr>
          <p:cNvPr id="4" name="Shape 2"/>
          <p:cNvSpPr/>
          <p:nvPr/>
        </p:nvSpPr>
        <p:spPr>
          <a:xfrm>
            <a:off x="812800" y="1977330"/>
            <a:ext cx="5791200" cy="0"/>
          </a:xfrm>
          <a:prstGeom prst="line">
            <a:avLst/>
          </a:prstGeom>
          <a:noFill/>
          <a:ln w="12700">
            <a:solidFill>
              <a:srgbClr val="0F1B2D"/>
            </a:solidFill>
            <a:prstDash val="solid"/>
          </a:ln>
        </p:spPr>
      </p:sp>
      <p:sp>
        <p:nvSpPr>
          <p:cNvPr id="5" name="Text 3"/>
          <p:cNvSpPr/>
          <p:nvPr/>
        </p:nvSpPr>
        <p:spPr>
          <a:xfrm>
            <a:off x="812800" y="2161480"/>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Position</a:t>
            </a:r>
            <a:endParaRPr lang="en-US" sz="1600" dirty="0"/>
          </a:p>
        </p:txBody>
      </p:sp>
      <p:sp>
        <p:nvSpPr>
          <p:cNvPr id="6" name="Text 4"/>
          <p:cNvSpPr/>
          <p:nvPr/>
        </p:nvSpPr>
        <p:spPr>
          <a:xfrm>
            <a:off x="2921000" y="2161480"/>
            <a:ext cx="37934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JetBrains Mono" pitchFamily="49" charset="0"/>
                <a:ea typeface="JetBrains Mono" pitchFamily="49" charset="-122"/>
                <a:cs typeface="JetBrains Mono" pitchFamily="49" charset="-120"/>
              </a:rPr>
              <a:t>p̂_bed(t + τ) + (0, 0, −4 m)</a:t>
            </a:r>
            <a:endParaRPr lang="en-US" sz="1600" dirty="0"/>
          </a:p>
        </p:txBody>
      </p:sp>
      <p:sp>
        <p:nvSpPr>
          <p:cNvPr id="7" name="Shape 5"/>
          <p:cNvSpPr/>
          <p:nvPr/>
        </p:nvSpPr>
        <p:spPr>
          <a:xfrm>
            <a:off x="812800" y="2626916"/>
            <a:ext cx="5791200" cy="0"/>
          </a:xfrm>
          <a:prstGeom prst="line">
            <a:avLst/>
          </a:prstGeom>
          <a:noFill/>
          <a:ln w="6350">
            <a:solidFill>
              <a:srgbClr val="C9C7BF"/>
            </a:solidFill>
            <a:prstDash val="solid"/>
          </a:ln>
        </p:spPr>
      </p:sp>
      <p:sp>
        <p:nvSpPr>
          <p:cNvPr id="8" name="Text 6"/>
          <p:cNvSpPr/>
          <p:nvPr/>
        </p:nvSpPr>
        <p:spPr>
          <a:xfrm>
            <a:off x="812800" y="2807891"/>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Velocity</a:t>
            </a:r>
            <a:endParaRPr lang="en-US" sz="1600" dirty="0"/>
          </a:p>
        </p:txBody>
      </p:sp>
      <p:sp>
        <p:nvSpPr>
          <p:cNvPr id="9" name="Text 7"/>
          <p:cNvSpPr/>
          <p:nvPr/>
        </p:nvSpPr>
        <p:spPr>
          <a:xfrm>
            <a:off x="2921000" y="2807891"/>
            <a:ext cx="37934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JetBrains Mono" pitchFamily="49" charset="0"/>
                <a:ea typeface="JetBrains Mono" pitchFamily="49" charset="-122"/>
                <a:cs typeface="JetBrains Mono" pitchFamily="49" charset="-120"/>
              </a:rPr>
              <a:t>v_truck (feedforward)</a:t>
            </a:r>
            <a:endParaRPr lang="en-US" sz="1600" dirty="0"/>
          </a:p>
        </p:txBody>
      </p:sp>
      <p:sp>
        <p:nvSpPr>
          <p:cNvPr id="10" name="Shape 8"/>
          <p:cNvSpPr/>
          <p:nvPr/>
        </p:nvSpPr>
        <p:spPr>
          <a:xfrm>
            <a:off x="812800" y="3273326"/>
            <a:ext cx="5791200" cy="0"/>
          </a:xfrm>
          <a:prstGeom prst="line">
            <a:avLst/>
          </a:prstGeom>
          <a:noFill/>
          <a:ln w="6350">
            <a:solidFill>
              <a:srgbClr val="C9C7BF"/>
            </a:solidFill>
            <a:prstDash val="solid"/>
          </a:ln>
        </p:spPr>
      </p:sp>
      <p:sp>
        <p:nvSpPr>
          <p:cNvPr id="11" name="Text 9"/>
          <p:cNvSpPr/>
          <p:nvPr/>
        </p:nvSpPr>
        <p:spPr>
          <a:xfrm>
            <a:off x="812800" y="3454301"/>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Yaw</a:t>
            </a:r>
            <a:endParaRPr lang="en-US" sz="1600" dirty="0"/>
          </a:p>
        </p:txBody>
      </p:sp>
      <p:sp>
        <p:nvSpPr>
          <p:cNvPr id="12" name="Text 10"/>
          <p:cNvSpPr/>
          <p:nvPr/>
        </p:nvSpPr>
        <p:spPr>
          <a:xfrm>
            <a:off x="2921000" y="3454301"/>
            <a:ext cx="37934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JetBrains Mono" pitchFamily="49" charset="0"/>
                <a:ea typeface="JetBrains Mono" pitchFamily="49" charset="-122"/>
                <a:cs typeface="JetBrains Mono" pitchFamily="49" charset="-120"/>
              </a:rPr>
              <a:t>truck heading</a:t>
            </a:r>
            <a:endParaRPr lang="en-US" sz="1600" dirty="0"/>
          </a:p>
        </p:txBody>
      </p:sp>
      <p:sp>
        <p:nvSpPr>
          <p:cNvPr id="13" name="Shape 11"/>
          <p:cNvSpPr/>
          <p:nvPr/>
        </p:nvSpPr>
        <p:spPr>
          <a:xfrm>
            <a:off x="812800" y="3919736"/>
            <a:ext cx="5791200" cy="0"/>
          </a:xfrm>
          <a:prstGeom prst="line">
            <a:avLst/>
          </a:prstGeom>
          <a:noFill/>
          <a:ln w="6350">
            <a:solidFill>
              <a:srgbClr val="C9C7BF"/>
            </a:solidFill>
            <a:prstDash val="solid"/>
          </a:ln>
        </p:spPr>
      </p:sp>
      <p:sp>
        <p:nvSpPr>
          <p:cNvPr id="14" name="Shape 12"/>
          <p:cNvSpPr/>
          <p:nvPr/>
        </p:nvSpPr>
        <p:spPr>
          <a:xfrm>
            <a:off x="812800" y="4850606"/>
            <a:ext cx="5791200" cy="0"/>
          </a:xfrm>
          <a:prstGeom prst="line">
            <a:avLst/>
          </a:prstGeom>
          <a:noFill/>
          <a:ln w="6350">
            <a:solidFill>
              <a:srgbClr val="C9C7BF"/>
            </a:solidFill>
            <a:prstDash val="solid"/>
          </a:ln>
        </p:spPr>
      </p:sp>
      <p:sp>
        <p:nvSpPr>
          <p:cNvPr id="15" name="Text 13"/>
          <p:cNvSpPr/>
          <p:nvPr/>
        </p:nvSpPr>
        <p:spPr>
          <a:xfrm>
            <a:off x="812800" y="4242941"/>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Correction</a:t>
            </a:r>
            <a:endParaRPr lang="en-US" sz="1600" dirty="0"/>
          </a:p>
        </p:txBody>
      </p:sp>
      <p:sp>
        <p:nvSpPr>
          <p:cNvPr id="16" name="Text 14"/>
          <p:cNvSpPr/>
          <p:nvPr/>
        </p:nvSpPr>
        <p:spPr>
          <a:xfrm>
            <a:off x="2921000" y="4100711"/>
            <a:ext cx="37934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PD on relative error, then LQR on a double integrator (Lab 3)</a:t>
            </a:r>
            <a:endParaRPr lang="en-US" sz="1600" dirty="0"/>
          </a:p>
        </p:txBody>
      </p:sp>
      <p:sp>
        <p:nvSpPr>
          <p:cNvPr id="17" name="Shape 15"/>
          <p:cNvSpPr/>
          <p:nvPr/>
        </p:nvSpPr>
        <p:spPr>
          <a:xfrm>
            <a:off x="6908800" y="1970980"/>
            <a:ext cx="4470400" cy="3871020"/>
          </a:xfrm>
          <a:prstGeom prst="roundRect">
            <a:avLst>
              <a:gd name="adj" fmla="val 3281"/>
            </a:avLst>
          </a:prstGeom>
          <a:solidFill>
            <a:srgbClr val="0F1B2D"/>
          </a:solidFill>
          <a:ln/>
        </p:spPr>
      </p:sp>
      <p:sp>
        <p:nvSpPr>
          <p:cNvPr id="18" name="Text 16"/>
          <p:cNvSpPr/>
          <p:nvPr/>
        </p:nvSpPr>
        <p:spPr>
          <a:xfrm>
            <a:off x="7213600" y="2275780"/>
            <a:ext cx="3976624"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8FB8EE"/>
                </a:solidFill>
                <a:latin typeface="IBM Plex Sans" pitchFamily="34" charset="0"/>
                <a:ea typeface="IBM Plex Sans" pitchFamily="34" charset="-122"/>
                <a:cs typeface="IBM Plex Sans" pitchFamily="34" charset="-120"/>
              </a:rPr>
              <a:t>KEY IDEA</a:t>
            </a:r>
            <a:endParaRPr lang="en-US" sz="1400" dirty="0"/>
          </a:p>
        </p:txBody>
      </p:sp>
      <p:sp>
        <p:nvSpPr>
          <p:cNvPr id="19" name="Text 17"/>
          <p:cNvSpPr/>
          <p:nvPr/>
        </p:nvSpPr>
        <p:spPr>
          <a:xfrm>
            <a:off x="7213600" y="2677071"/>
            <a:ext cx="3976624" cy="10311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3EE"/>
                </a:solidFill>
                <a:latin typeface="Space Grotesk" pitchFamily="34" charset="0"/>
                <a:ea typeface="Space Grotesk" pitchFamily="34" charset="-122"/>
                <a:cs typeface="Space Grotesk" pitchFamily="34" charset="-120"/>
              </a:rPr>
              <a:t>Feedforward does the work. Feedback only fixes the small error left.</a:t>
            </a:r>
            <a:endParaRPr lang="en-US" sz="2200" dirty="0"/>
          </a:p>
        </p:txBody>
      </p:sp>
      <p:sp>
        <p:nvSpPr>
          <p:cNvPr id="20" name="Text 18"/>
          <p:cNvSpPr/>
          <p:nvPr/>
        </p:nvSpPr>
        <p:spPr>
          <a:xfrm>
            <a:off x="7213600" y="3835251"/>
            <a:ext cx="397662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CDB"/>
                </a:solidFill>
                <a:latin typeface="IBM Plex Sans" pitchFamily="34" charset="0"/>
                <a:ea typeface="IBM Plex Sans" pitchFamily="34" charset="-122"/>
                <a:cs typeface="IBM Plex Sans" pitchFamily="34" charset="-120"/>
              </a:rPr>
              <a:t>PX4 runs the inner position and velocity loops. We stream setpoints at 20 Hz in Offboard mode.</a:t>
            </a:r>
            <a:endParaRPr lang="en-US" sz="1400" dirty="0"/>
          </a:p>
        </p:txBody>
      </p:sp>
      <p:sp>
        <p:nvSpPr>
          <p:cNvPr id="21" name="Text 19"/>
          <p:cNvSpPr/>
          <p:nvPr/>
        </p:nvSpPr>
        <p:spPr>
          <a:xfrm>
            <a:off x="6978948" y="6238280"/>
            <a:ext cx="5213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Goal: &lt; 0.3 m horizontal error on straights, 4 m above the bed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DRONE · LANDING</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A state machine that knows when to give up</a:t>
            </a:r>
            <a:endParaRPr lang="en-US" sz="3600" dirty="0"/>
          </a:p>
        </p:txBody>
      </p:sp>
      <p:sp>
        <p:nvSpPr>
          <p:cNvPr id="4" name="Text 2"/>
          <p:cNvSpPr/>
          <p:nvPr/>
        </p:nvSpPr>
        <p:spPr>
          <a:xfrm>
            <a:off x="819150" y="2165350"/>
            <a:ext cx="1409700" cy="596900"/>
          </a:xfrm>
          <a:custGeom>
            <a:avLst/>
            <a:gdLst/>
            <a:ahLst/>
            <a:cxnLst/>
            <a:rect l="l" t="t" r="r" b="b"/>
            <a:pathLst>
              <a:path w="1409700" h="596900">
                <a:moveTo>
                  <a:pt x="82550" y="0"/>
                </a:moveTo>
                <a:lnTo>
                  <a:pt x="1327150" y="0"/>
                </a:lnTo>
                <a:arcTo hR="82550" wR="82550" stAng="16200000" swAng="5400000"/>
                <a:lnTo>
                  <a:pt x="1409700" y="514350"/>
                </a:lnTo>
                <a:arcTo hR="82550" wR="82550" stAng="0" swAng="5400000"/>
                <a:lnTo>
                  <a:pt x="82550" y="596900"/>
                </a:lnTo>
                <a:arcTo hR="82550" wR="82550" stAng="5400000" swAng="5400000"/>
                <a:lnTo>
                  <a:pt x="0" y="82550"/>
                </a:lnTo>
                <a:arcTo hR="82550" wR="82550" stAng="10800000" swAng="5400000"/>
                <a:close/>
              </a:path>
            </a:pathLst>
          </a:custGeom>
          <a:solidFill>
            <a:srgbClr val="FBFBF8"/>
          </a:solidFill>
          <a:ln w="12700">
            <a:solidFill>
              <a:srgbClr val="9AA3AE"/>
            </a:solidFill>
            <a:prstDash val="solid"/>
          </a:ln>
        </p:spPr>
        <p:txBody>
          <a:bodyPr wrap="square" lIns="0" tIns="6350" rIns="0" bIns="0" rtlCol="0" anchor="t">
            <a:normAutofit/>
          </a:bodyPr>
          <a:lstStyle/>
          <a:p>
            <a:pPr algn="ctr" indent="0" marL="0">
              <a:lnSpc>
                <a:spcPts val="4622"/>
              </a:lnSpc>
              <a:buNone/>
            </a:pPr>
            <a:r>
              <a:rPr lang="en-US" sz="1347" b="1" dirty="0">
                <a:solidFill>
                  <a:srgbClr val="0F1B2D"/>
                </a:solidFill>
                <a:latin typeface="IBM Plex Sans" pitchFamily="34" charset="0"/>
                <a:ea typeface="IBM Plex Sans" pitchFamily="34" charset="-122"/>
                <a:cs typeface="IBM Plex Sans" pitchFamily="34" charset="-120"/>
              </a:rPr>
              <a:t>TAKEOFF</a:t>
            </a:r>
            <a:endParaRPr lang="en-US" sz="1347" dirty="0"/>
          </a:p>
        </p:txBody>
      </p:sp>
      <p:sp>
        <p:nvSpPr>
          <p:cNvPr id="5" name="Text 3"/>
          <p:cNvSpPr/>
          <p:nvPr/>
        </p:nvSpPr>
        <p:spPr>
          <a:xfrm>
            <a:off x="2647950" y="2165350"/>
            <a:ext cx="1409700" cy="596900"/>
          </a:xfrm>
          <a:custGeom>
            <a:avLst/>
            <a:gdLst/>
            <a:ahLst/>
            <a:cxnLst/>
            <a:rect l="l" t="t" r="r" b="b"/>
            <a:pathLst>
              <a:path w="1409700" h="596900">
                <a:moveTo>
                  <a:pt x="82550" y="0"/>
                </a:moveTo>
                <a:lnTo>
                  <a:pt x="1327150" y="0"/>
                </a:lnTo>
                <a:arcTo hR="82550" wR="82550" stAng="16200000" swAng="5400000"/>
                <a:lnTo>
                  <a:pt x="1409700" y="514350"/>
                </a:lnTo>
                <a:arcTo hR="82550" wR="82550" stAng="0" swAng="5400000"/>
                <a:lnTo>
                  <a:pt x="82550" y="596900"/>
                </a:lnTo>
                <a:arcTo hR="82550" wR="82550" stAng="5400000" swAng="5400000"/>
                <a:lnTo>
                  <a:pt x="0" y="82550"/>
                </a:lnTo>
                <a:arcTo hR="82550" wR="82550" stAng="10800000" swAng="5400000"/>
                <a:close/>
              </a:path>
            </a:pathLst>
          </a:custGeom>
          <a:solidFill>
            <a:srgbClr val="FBFBF8"/>
          </a:solidFill>
          <a:ln w="12700">
            <a:solidFill>
              <a:srgbClr val="9AA3AE"/>
            </a:solidFill>
            <a:prstDash val="solid"/>
          </a:ln>
        </p:spPr>
        <p:txBody>
          <a:bodyPr wrap="square" lIns="0" tIns="6350" rIns="0" bIns="0" rtlCol="0" anchor="t">
            <a:normAutofit/>
          </a:bodyPr>
          <a:lstStyle/>
          <a:p>
            <a:pPr algn="ctr" indent="0" marL="0">
              <a:lnSpc>
                <a:spcPts val="4622"/>
              </a:lnSpc>
              <a:buNone/>
            </a:pPr>
            <a:r>
              <a:rPr lang="en-US" sz="1347" b="1" dirty="0">
                <a:solidFill>
                  <a:srgbClr val="0F1B2D"/>
                </a:solidFill>
                <a:latin typeface="IBM Plex Sans" pitchFamily="34" charset="0"/>
                <a:ea typeface="IBM Plex Sans" pitchFamily="34" charset="-122"/>
                <a:cs typeface="IBM Plex Sans" pitchFamily="34" charset="-120"/>
              </a:rPr>
              <a:t>APPROACH</a:t>
            </a:r>
            <a:endParaRPr lang="en-US" sz="1347" dirty="0"/>
          </a:p>
        </p:txBody>
      </p:sp>
      <p:sp>
        <p:nvSpPr>
          <p:cNvPr id="6" name="Text 4"/>
          <p:cNvSpPr/>
          <p:nvPr/>
        </p:nvSpPr>
        <p:spPr>
          <a:xfrm>
            <a:off x="4476750" y="2165350"/>
            <a:ext cx="1409700" cy="596900"/>
          </a:xfrm>
          <a:custGeom>
            <a:avLst/>
            <a:gdLst/>
            <a:ahLst/>
            <a:cxnLst/>
            <a:rect l="l" t="t" r="r" b="b"/>
            <a:pathLst>
              <a:path w="1409700" h="596900">
                <a:moveTo>
                  <a:pt x="82550" y="0"/>
                </a:moveTo>
                <a:lnTo>
                  <a:pt x="1327150" y="0"/>
                </a:lnTo>
                <a:arcTo hR="82550" wR="82550" stAng="16200000" swAng="5400000"/>
                <a:lnTo>
                  <a:pt x="1409700" y="514350"/>
                </a:lnTo>
                <a:arcTo hR="82550" wR="82550" stAng="0" swAng="5400000"/>
                <a:lnTo>
                  <a:pt x="82550" y="596900"/>
                </a:lnTo>
                <a:arcTo hR="82550" wR="82550" stAng="5400000" swAng="5400000"/>
                <a:lnTo>
                  <a:pt x="0" y="82550"/>
                </a:lnTo>
                <a:arcTo hR="82550" wR="82550" stAng="10800000" swAng="5400000"/>
                <a:close/>
              </a:path>
            </a:pathLst>
          </a:custGeom>
          <a:solidFill>
            <a:srgbClr val="FBFBF8"/>
          </a:solidFill>
          <a:ln w="12700">
            <a:solidFill>
              <a:srgbClr val="1F5FAF"/>
            </a:solidFill>
            <a:prstDash val="solid"/>
          </a:ln>
        </p:spPr>
        <p:txBody>
          <a:bodyPr wrap="square" lIns="0" tIns="6350" rIns="0" bIns="0" rtlCol="0" anchor="t">
            <a:normAutofit/>
          </a:bodyPr>
          <a:lstStyle/>
          <a:p>
            <a:pPr algn="ctr" indent="0" marL="0">
              <a:lnSpc>
                <a:spcPts val="4622"/>
              </a:lnSpc>
              <a:buNone/>
            </a:pPr>
            <a:r>
              <a:rPr lang="en-US" sz="1347" b="1" dirty="0">
                <a:solidFill>
                  <a:srgbClr val="1F5FAF"/>
                </a:solidFill>
                <a:latin typeface="IBM Plex Sans" pitchFamily="34" charset="0"/>
                <a:ea typeface="IBM Plex Sans" pitchFamily="34" charset="-122"/>
                <a:cs typeface="IBM Plex Sans" pitchFamily="34" charset="-120"/>
              </a:rPr>
              <a:t>TRACK</a:t>
            </a:r>
            <a:endParaRPr lang="en-US" sz="1347" dirty="0"/>
          </a:p>
        </p:txBody>
      </p:sp>
      <p:sp>
        <p:nvSpPr>
          <p:cNvPr id="7" name="Text 5"/>
          <p:cNvSpPr/>
          <p:nvPr/>
        </p:nvSpPr>
        <p:spPr>
          <a:xfrm>
            <a:off x="6305550" y="2165350"/>
            <a:ext cx="1409700" cy="596900"/>
          </a:xfrm>
          <a:custGeom>
            <a:avLst/>
            <a:gdLst/>
            <a:ahLst/>
            <a:cxnLst/>
            <a:rect l="l" t="t" r="r" b="b"/>
            <a:pathLst>
              <a:path w="1409700" h="596900">
                <a:moveTo>
                  <a:pt x="82550" y="0"/>
                </a:moveTo>
                <a:lnTo>
                  <a:pt x="1327150" y="0"/>
                </a:lnTo>
                <a:arcTo hR="82550" wR="82550" stAng="16200000" swAng="5400000"/>
                <a:lnTo>
                  <a:pt x="1409700" y="514350"/>
                </a:lnTo>
                <a:arcTo hR="82550" wR="82550" stAng="0" swAng="5400000"/>
                <a:lnTo>
                  <a:pt x="82550" y="596900"/>
                </a:lnTo>
                <a:arcTo hR="82550" wR="82550" stAng="5400000" swAng="5400000"/>
                <a:lnTo>
                  <a:pt x="0" y="82550"/>
                </a:lnTo>
                <a:arcTo hR="82550" wR="82550" stAng="10800000" swAng="5400000"/>
                <a:close/>
              </a:path>
            </a:pathLst>
          </a:custGeom>
          <a:solidFill>
            <a:srgbClr val="FBFBF8"/>
          </a:solidFill>
          <a:ln w="12700">
            <a:solidFill>
              <a:srgbClr val="1F5FAF"/>
            </a:solidFill>
            <a:prstDash val="solid"/>
          </a:ln>
        </p:spPr>
        <p:txBody>
          <a:bodyPr wrap="square" lIns="0" tIns="6350" rIns="0" bIns="0" rtlCol="0" anchor="t">
            <a:normAutofit/>
          </a:bodyPr>
          <a:lstStyle/>
          <a:p>
            <a:pPr algn="ctr" indent="0" marL="0">
              <a:lnSpc>
                <a:spcPts val="4622"/>
              </a:lnSpc>
              <a:buNone/>
            </a:pPr>
            <a:r>
              <a:rPr lang="en-US" sz="1347" b="1" dirty="0">
                <a:solidFill>
                  <a:srgbClr val="1F5FAF"/>
                </a:solidFill>
                <a:latin typeface="IBM Plex Sans" pitchFamily="34" charset="0"/>
                <a:ea typeface="IBM Plex Sans" pitchFamily="34" charset="-122"/>
                <a:cs typeface="IBM Plex Sans" pitchFamily="34" charset="-120"/>
              </a:rPr>
              <a:t>DESCEND</a:t>
            </a:r>
            <a:endParaRPr lang="en-US" sz="1347" dirty="0"/>
          </a:p>
        </p:txBody>
      </p:sp>
      <p:sp>
        <p:nvSpPr>
          <p:cNvPr id="8" name="Text 6"/>
          <p:cNvSpPr/>
          <p:nvPr/>
        </p:nvSpPr>
        <p:spPr>
          <a:xfrm>
            <a:off x="8134350" y="2165350"/>
            <a:ext cx="1409700" cy="596900"/>
          </a:xfrm>
          <a:custGeom>
            <a:avLst/>
            <a:gdLst/>
            <a:ahLst/>
            <a:cxnLst/>
            <a:rect l="l" t="t" r="r" b="b"/>
            <a:pathLst>
              <a:path w="1409700" h="596900">
                <a:moveTo>
                  <a:pt x="82550" y="0"/>
                </a:moveTo>
                <a:lnTo>
                  <a:pt x="1327150" y="0"/>
                </a:lnTo>
                <a:arcTo hR="82550" wR="82550" stAng="16200000" swAng="5400000"/>
                <a:lnTo>
                  <a:pt x="1409700" y="514350"/>
                </a:lnTo>
                <a:arcTo hR="82550" wR="82550" stAng="0" swAng="5400000"/>
                <a:lnTo>
                  <a:pt x="82550" y="596900"/>
                </a:lnTo>
                <a:arcTo hR="82550" wR="82550" stAng="5400000" swAng="5400000"/>
                <a:lnTo>
                  <a:pt x="0" y="82550"/>
                </a:lnTo>
                <a:arcTo hR="82550" wR="82550" stAng="10800000" swAng="5400000"/>
                <a:close/>
              </a:path>
            </a:pathLst>
          </a:custGeom>
          <a:solidFill>
            <a:srgbClr val="FBFBF8"/>
          </a:solidFill>
          <a:ln w="12700">
            <a:solidFill>
              <a:srgbClr val="1F5FAF"/>
            </a:solidFill>
            <a:prstDash val="solid"/>
          </a:ln>
        </p:spPr>
        <p:txBody>
          <a:bodyPr wrap="square" lIns="0" tIns="6350" rIns="0" bIns="0" rtlCol="0" anchor="t">
            <a:normAutofit/>
          </a:bodyPr>
          <a:lstStyle/>
          <a:p>
            <a:pPr algn="ctr" indent="0" marL="0">
              <a:lnSpc>
                <a:spcPts val="4622"/>
              </a:lnSpc>
              <a:buNone/>
            </a:pPr>
            <a:r>
              <a:rPr lang="en-US" sz="1347" b="1" dirty="0">
                <a:solidFill>
                  <a:srgbClr val="1F5FAF"/>
                </a:solidFill>
                <a:latin typeface="IBM Plex Sans" pitchFamily="34" charset="0"/>
                <a:ea typeface="IBM Plex Sans" pitchFamily="34" charset="-122"/>
                <a:cs typeface="IBM Plex Sans" pitchFamily="34" charset="-120"/>
              </a:rPr>
              <a:t>TOUCHDOWN</a:t>
            </a:r>
            <a:endParaRPr lang="en-US" sz="1347" dirty="0"/>
          </a:p>
        </p:txBody>
      </p:sp>
      <p:sp>
        <p:nvSpPr>
          <p:cNvPr id="9" name="Text 7"/>
          <p:cNvSpPr/>
          <p:nvPr/>
        </p:nvSpPr>
        <p:spPr>
          <a:xfrm>
            <a:off x="9963150" y="2165350"/>
            <a:ext cx="1409700" cy="596900"/>
          </a:xfrm>
          <a:custGeom>
            <a:avLst/>
            <a:gdLst/>
            <a:ahLst/>
            <a:cxnLst/>
            <a:rect l="l" t="t" r="r" b="b"/>
            <a:pathLst>
              <a:path w="1409700" h="596900">
                <a:moveTo>
                  <a:pt x="82550" y="0"/>
                </a:moveTo>
                <a:lnTo>
                  <a:pt x="1327150" y="0"/>
                </a:lnTo>
                <a:arcTo hR="82550" wR="82550" stAng="16200000" swAng="5400000"/>
                <a:lnTo>
                  <a:pt x="1409700" y="514350"/>
                </a:lnTo>
                <a:arcTo hR="82550" wR="82550" stAng="0" swAng="5400000"/>
                <a:lnTo>
                  <a:pt x="82550" y="596900"/>
                </a:lnTo>
                <a:arcTo hR="82550" wR="82550" stAng="5400000" swAng="5400000"/>
                <a:lnTo>
                  <a:pt x="0" y="82550"/>
                </a:lnTo>
                <a:arcTo hR="82550" wR="82550" stAng="10800000" swAng="5400000"/>
                <a:close/>
              </a:path>
            </a:pathLst>
          </a:custGeom>
          <a:solidFill>
            <a:srgbClr val="1F5FAF"/>
          </a:solidFill>
          <a:ln w="12700">
            <a:solidFill>
              <a:srgbClr val="1F5FAF"/>
            </a:solidFill>
            <a:prstDash val="solid"/>
          </a:ln>
        </p:spPr>
        <p:txBody>
          <a:bodyPr wrap="square" lIns="0" tIns="6350" rIns="0" bIns="0" rtlCol="0" anchor="t">
            <a:normAutofit/>
          </a:bodyPr>
          <a:lstStyle/>
          <a:p>
            <a:pPr algn="ctr" indent="0" marL="0">
              <a:lnSpc>
                <a:spcPts val="4622"/>
              </a:lnSpc>
              <a:buNone/>
            </a:pPr>
            <a:r>
              <a:rPr lang="en-US" sz="1347" b="1" dirty="0">
                <a:solidFill>
                  <a:srgbClr val="F4F3EE"/>
                </a:solidFill>
                <a:latin typeface="IBM Plex Sans" pitchFamily="34" charset="0"/>
                <a:ea typeface="IBM Plex Sans" pitchFamily="34" charset="-122"/>
                <a:cs typeface="IBM Plex Sans" pitchFamily="34" charset="-120"/>
              </a:rPr>
              <a:t>LANDED</a:t>
            </a:r>
            <a:endParaRPr lang="en-US" sz="1347" dirty="0"/>
          </a:p>
        </p:txBody>
      </p:sp>
      <p:sp>
        <p:nvSpPr>
          <p:cNvPr id="10" name="Text 8"/>
          <p:cNvSpPr/>
          <p:nvPr/>
        </p:nvSpPr>
        <p:spPr>
          <a:xfrm>
            <a:off x="5391150" y="3181350"/>
            <a:ext cx="1409700" cy="596900"/>
          </a:xfrm>
          <a:custGeom>
            <a:avLst/>
            <a:gdLst/>
            <a:ahLst/>
            <a:cxnLst/>
            <a:rect l="l" t="t" r="r" b="b"/>
            <a:pathLst>
              <a:path w="1409700" h="596900">
                <a:moveTo>
                  <a:pt x="82550" y="0"/>
                </a:moveTo>
                <a:lnTo>
                  <a:pt x="1327150" y="0"/>
                </a:lnTo>
                <a:arcTo hR="82550" wR="82550" stAng="16200000" swAng="5400000"/>
                <a:lnTo>
                  <a:pt x="1409700" y="514350"/>
                </a:lnTo>
                <a:arcTo hR="82550" wR="82550" stAng="0" swAng="5400000"/>
                <a:lnTo>
                  <a:pt x="82550" y="596900"/>
                </a:lnTo>
                <a:arcTo hR="82550" wR="82550" stAng="5400000" swAng="5400000"/>
                <a:lnTo>
                  <a:pt x="0" y="82550"/>
                </a:lnTo>
                <a:arcTo hR="82550" wR="82550" stAng="10800000" swAng="5400000"/>
                <a:close/>
              </a:path>
            </a:pathLst>
          </a:custGeom>
          <a:solidFill>
            <a:srgbClr val="FBEEE4"/>
          </a:solidFill>
          <a:ln w="12700">
            <a:solidFill>
              <a:srgbClr val="C2581A"/>
            </a:solidFill>
            <a:prstDash val="solid"/>
          </a:ln>
        </p:spPr>
        <p:txBody>
          <a:bodyPr wrap="square" lIns="0" tIns="6350" rIns="0" bIns="0" rtlCol="0" anchor="t">
            <a:normAutofit/>
          </a:bodyPr>
          <a:lstStyle/>
          <a:p>
            <a:pPr algn="ctr" indent="0" marL="0">
              <a:lnSpc>
                <a:spcPts val="4622"/>
              </a:lnSpc>
              <a:buNone/>
            </a:pPr>
            <a:r>
              <a:rPr lang="en-US" sz="1347" b="1" dirty="0">
                <a:solidFill>
                  <a:srgbClr val="A6481A"/>
                </a:solidFill>
                <a:latin typeface="IBM Plex Sans" pitchFamily="34" charset="0"/>
                <a:ea typeface="IBM Plex Sans" pitchFamily="34" charset="-122"/>
                <a:cs typeface="IBM Plex Sans" pitchFamily="34" charset="-120"/>
              </a:rPr>
              <a:t>ABORT</a:t>
            </a:r>
            <a:endParaRPr lang="en-US" sz="1347" dirty="0"/>
          </a:p>
        </p:txBody>
      </p:sp>
      <p:pic>
        <p:nvPicPr>
          <p:cNvPr id="11" name="Image 0" descr="connector">    </p:cNvPr>
          <p:cNvPicPr>
            <a:picLocks noChangeAspect="1"/>
          </p:cNvPicPr>
          <p:nvPr/>
        </p:nvPicPr>
        <p:blipFill>
          <a:blip r:embed="rId1"/>
          <a:srcRect l="0" r="0" t="0" b="0"/>
          <a:stretch/>
        </p:blipFill>
        <p:spPr>
          <a:xfrm>
            <a:off x="2209800" y="2413000"/>
            <a:ext cx="457200" cy="101600"/>
          </a:xfrm>
          <a:prstGeom prst="rect">
            <a:avLst/>
          </a:prstGeom>
        </p:spPr>
      </p:pic>
      <p:pic>
        <p:nvPicPr>
          <p:cNvPr id="12" name="Image 1" descr="connector">    </p:cNvPr>
          <p:cNvPicPr>
            <a:picLocks noChangeAspect="1"/>
          </p:cNvPicPr>
          <p:nvPr/>
        </p:nvPicPr>
        <p:blipFill>
          <a:blip r:embed="rId2"/>
          <a:srcRect l="0" r="0" t="0" b="0"/>
          <a:stretch/>
        </p:blipFill>
        <p:spPr>
          <a:xfrm>
            <a:off x="4038600" y="2413000"/>
            <a:ext cx="457200" cy="101600"/>
          </a:xfrm>
          <a:prstGeom prst="rect">
            <a:avLst/>
          </a:prstGeom>
        </p:spPr>
      </p:pic>
      <p:pic>
        <p:nvPicPr>
          <p:cNvPr id="13" name="Image 2" descr="connector">    </p:cNvPr>
          <p:cNvPicPr>
            <a:picLocks noChangeAspect="1"/>
          </p:cNvPicPr>
          <p:nvPr/>
        </p:nvPicPr>
        <p:blipFill>
          <a:blip r:embed="rId3"/>
          <a:srcRect l="0" r="0" t="0" b="0"/>
          <a:stretch/>
        </p:blipFill>
        <p:spPr>
          <a:xfrm>
            <a:off x="5867400" y="2413000"/>
            <a:ext cx="457200" cy="101600"/>
          </a:xfrm>
          <a:prstGeom prst="rect">
            <a:avLst/>
          </a:prstGeom>
        </p:spPr>
      </p:pic>
      <p:pic>
        <p:nvPicPr>
          <p:cNvPr id="14" name="Image 3" descr="connector">    </p:cNvPr>
          <p:cNvPicPr>
            <a:picLocks noChangeAspect="1"/>
          </p:cNvPicPr>
          <p:nvPr/>
        </p:nvPicPr>
        <p:blipFill>
          <a:blip r:embed="rId4"/>
          <a:srcRect l="0" r="0" t="0" b="0"/>
          <a:stretch/>
        </p:blipFill>
        <p:spPr>
          <a:xfrm>
            <a:off x="7696200" y="2413000"/>
            <a:ext cx="457200" cy="101600"/>
          </a:xfrm>
          <a:prstGeom prst="rect">
            <a:avLst/>
          </a:prstGeom>
        </p:spPr>
      </p:pic>
      <p:pic>
        <p:nvPicPr>
          <p:cNvPr id="15" name="Image 4" descr="connector">    </p:cNvPr>
          <p:cNvPicPr>
            <a:picLocks noChangeAspect="1"/>
          </p:cNvPicPr>
          <p:nvPr/>
        </p:nvPicPr>
        <p:blipFill>
          <a:blip r:embed="rId5"/>
          <a:srcRect l="0" r="0" t="0" b="0"/>
          <a:stretch/>
        </p:blipFill>
        <p:spPr>
          <a:xfrm>
            <a:off x="9525000" y="2413000"/>
            <a:ext cx="457200" cy="101600"/>
          </a:xfrm>
          <a:prstGeom prst="rect">
            <a:avLst/>
          </a:prstGeom>
        </p:spPr>
      </p:pic>
      <p:pic>
        <p:nvPicPr>
          <p:cNvPr id="16" name="Image 5" descr="connector">    </p:cNvPr>
          <p:cNvPicPr>
            <a:picLocks noChangeAspect="1"/>
          </p:cNvPicPr>
          <p:nvPr/>
        </p:nvPicPr>
        <p:blipFill>
          <a:blip r:embed="rId6"/>
          <a:srcRect l="0" r="0" t="0" b="0"/>
          <a:stretch/>
        </p:blipFill>
        <p:spPr>
          <a:xfrm>
            <a:off x="6781800" y="2743200"/>
            <a:ext cx="279400" cy="787400"/>
          </a:xfrm>
          <a:prstGeom prst="rect">
            <a:avLst/>
          </a:prstGeom>
        </p:spPr>
      </p:pic>
      <p:pic>
        <p:nvPicPr>
          <p:cNvPr id="17" name="Image 6" descr="connector">    </p:cNvPr>
          <p:cNvPicPr>
            <a:picLocks noChangeAspect="1"/>
          </p:cNvPicPr>
          <p:nvPr/>
        </p:nvPicPr>
        <p:blipFill>
          <a:blip r:embed="rId7"/>
          <a:srcRect l="0" r="0" t="0" b="0"/>
          <a:stretch/>
        </p:blipFill>
        <p:spPr>
          <a:xfrm>
            <a:off x="5130800" y="2743200"/>
            <a:ext cx="279400" cy="787400"/>
          </a:xfrm>
          <a:prstGeom prst="rect">
            <a:avLst/>
          </a:prstGeom>
        </p:spPr>
      </p:pic>
      <p:sp>
        <p:nvSpPr>
          <p:cNvPr id="18" name="Text 9"/>
          <p:cNvSpPr/>
          <p:nvPr/>
        </p:nvSpPr>
        <p:spPr>
          <a:xfrm>
            <a:off x="7137400" y="3175000"/>
            <a:ext cx="27470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481A"/>
                </a:solidFill>
                <a:latin typeface="IBM Plex Sans" pitchFamily="34" charset="0"/>
                <a:ea typeface="IBM Plex Sans" pitchFamily="34" charset="-122"/>
                <a:cs typeface="IBM Plex Sans" pitchFamily="34" charset="-120"/>
              </a:rPr>
              <a:t>left the cone, zone ending, or target lost → climb back to 4 m</a:t>
            </a:r>
            <a:endParaRPr lang="en-US" sz="1200" dirty="0"/>
          </a:p>
        </p:txBody>
      </p:sp>
      <p:sp>
        <p:nvSpPr>
          <p:cNvPr id="19" name="Shape 10"/>
          <p:cNvSpPr/>
          <p:nvPr/>
        </p:nvSpPr>
        <p:spPr>
          <a:xfrm>
            <a:off x="815975" y="4130675"/>
            <a:ext cx="3380284" cy="1483271"/>
          </a:xfrm>
          <a:prstGeom prst="roundRect">
            <a:avLst>
              <a:gd name="adj" fmla="val 6636"/>
            </a:avLst>
          </a:prstGeom>
          <a:solidFill>
            <a:srgbClr val="FBFBF8"/>
          </a:solidFill>
          <a:ln w="6350">
            <a:solidFill>
              <a:srgbClr val="DCDAD2"/>
            </a:solidFill>
            <a:prstDash val="solid"/>
          </a:ln>
        </p:spPr>
      </p:sp>
      <p:sp>
        <p:nvSpPr>
          <p:cNvPr id="20" name="Text 11"/>
          <p:cNvSpPr/>
          <p:nvPr/>
        </p:nvSpPr>
        <p:spPr>
          <a:xfrm>
            <a:off x="1022350" y="4337050"/>
            <a:ext cx="30565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B2D"/>
                </a:solidFill>
                <a:latin typeface="Space Grotesk" pitchFamily="34" charset="0"/>
                <a:ea typeface="Space Grotesk" pitchFamily="34" charset="-122"/>
                <a:cs typeface="Space Grotesk" pitchFamily="34" charset="-120"/>
              </a:rPr>
              <a:t>Descent gate</a:t>
            </a:r>
            <a:endParaRPr lang="en-US" sz="1800" dirty="0"/>
          </a:p>
        </p:txBody>
      </p:sp>
      <p:sp>
        <p:nvSpPr>
          <p:cNvPr id="21" name="Text 12"/>
          <p:cNvSpPr/>
          <p:nvPr/>
        </p:nvSpPr>
        <p:spPr>
          <a:xfrm>
            <a:off x="1022350" y="4687540"/>
            <a:ext cx="305656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Inside a landing zone with ≥ 15 s left, and error &lt; 0.3 m, &lt; 0.3 m/s for 1.5 s</a:t>
            </a:r>
            <a:endParaRPr lang="en-US" sz="1400" dirty="0"/>
          </a:p>
        </p:txBody>
      </p:sp>
      <p:sp>
        <p:nvSpPr>
          <p:cNvPr id="22" name="Shape 13"/>
          <p:cNvSpPr/>
          <p:nvPr/>
        </p:nvSpPr>
        <p:spPr>
          <a:xfrm>
            <a:off x="4405809" y="4130675"/>
            <a:ext cx="3380333" cy="1483271"/>
          </a:xfrm>
          <a:prstGeom prst="roundRect">
            <a:avLst>
              <a:gd name="adj" fmla="val 6636"/>
            </a:avLst>
          </a:prstGeom>
          <a:solidFill>
            <a:srgbClr val="FBFBF8"/>
          </a:solidFill>
          <a:ln w="6350">
            <a:solidFill>
              <a:srgbClr val="DCDAD2"/>
            </a:solidFill>
            <a:prstDash val="solid"/>
          </a:ln>
        </p:spPr>
      </p:sp>
      <p:sp>
        <p:nvSpPr>
          <p:cNvPr id="23" name="Text 14"/>
          <p:cNvSpPr/>
          <p:nvPr/>
        </p:nvSpPr>
        <p:spPr>
          <a:xfrm>
            <a:off x="4612184" y="4337050"/>
            <a:ext cx="305661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B2D"/>
                </a:solidFill>
                <a:latin typeface="Space Grotesk" pitchFamily="34" charset="0"/>
                <a:ea typeface="Space Grotesk" pitchFamily="34" charset="-122"/>
                <a:cs typeface="Space Grotesk" pitchFamily="34" charset="-120"/>
              </a:rPr>
              <a:t>Glide cone</a:t>
            </a:r>
            <a:endParaRPr lang="en-US" sz="1800" dirty="0"/>
          </a:p>
        </p:txBody>
      </p:sp>
      <p:sp>
        <p:nvSpPr>
          <p:cNvPr id="24" name="Text 15"/>
          <p:cNvSpPr/>
          <p:nvPr/>
        </p:nvSpPr>
        <p:spPr>
          <a:xfrm>
            <a:off x="4612184" y="4687540"/>
            <a:ext cx="305661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Descend at 0.5 m/s. The allowed error shrinks as the drone gets lower</a:t>
            </a:r>
            <a:endParaRPr lang="en-US" sz="1400" dirty="0"/>
          </a:p>
        </p:txBody>
      </p:sp>
      <p:sp>
        <p:nvSpPr>
          <p:cNvPr id="25" name="Shape 16"/>
          <p:cNvSpPr/>
          <p:nvPr/>
        </p:nvSpPr>
        <p:spPr>
          <a:xfrm>
            <a:off x="7995692" y="4130675"/>
            <a:ext cx="3380333" cy="1483271"/>
          </a:xfrm>
          <a:prstGeom prst="roundRect">
            <a:avLst>
              <a:gd name="adj" fmla="val 6636"/>
            </a:avLst>
          </a:prstGeom>
          <a:solidFill>
            <a:srgbClr val="FBFBF8"/>
          </a:solidFill>
          <a:ln w="6350">
            <a:solidFill>
              <a:srgbClr val="DCDAD2"/>
            </a:solidFill>
            <a:prstDash val="solid"/>
          </a:ln>
        </p:spPr>
      </p:sp>
      <p:sp>
        <p:nvSpPr>
          <p:cNvPr id="26" name="Text 17"/>
          <p:cNvSpPr/>
          <p:nvPr/>
        </p:nvSpPr>
        <p:spPr>
          <a:xfrm>
            <a:off x="8202067" y="4337050"/>
            <a:ext cx="305661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B2D"/>
                </a:solidFill>
                <a:latin typeface="Space Grotesk" pitchFamily="34" charset="0"/>
                <a:ea typeface="Space Grotesk" pitchFamily="34" charset="-122"/>
                <a:cs typeface="Space Grotesk" pitchFamily="34" charset="-120"/>
              </a:rPr>
              <a:t>Touchdown</a:t>
            </a:r>
            <a:endParaRPr lang="en-US" sz="1800" dirty="0"/>
          </a:p>
        </p:txBody>
      </p:sp>
      <p:sp>
        <p:nvSpPr>
          <p:cNvPr id="27" name="Text 18"/>
          <p:cNvSpPr/>
          <p:nvPr/>
        </p:nvSpPr>
        <p:spPr>
          <a:xfrm>
            <a:off x="8202067" y="4687540"/>
            <a:ext cx="3056611"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Own contact detection, then force-disarm. PX4's land detector fails on a moving bed</a:t>
            </a:r>
            <a:endParaRPr lang="en-US" sz="1400" dirty="0"/>
          </a:p>
        </p:txBody>
      </p:sp>
      <p:sp>
        <p:nvSpPr>
          <p:cNvPr id="28" name="Text 19"/>
          <p:cNvSpPr/>
          <p:nvPr/>
        </p:nvSpPr>
        <p:spPr>
          <a:xfrm>
            <a:off x="10158611" y="6238280"/>
            <a:ext cx="14647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Flatbed Falcon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COOPERATION &amp; ESTIMATION</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The truck helps, the filter fills the gaps</a:t>
            </a:r>
            <a:endParaRPr lang="en-US" sz="3600" dirty="0"/>
          </a:p>
        </p:txBody>
      </p:sp>
      <p:sp>
        <p:nvSpPr>
          <p:cNvPr id="4" name="Text 2"/>
          <p:cNvSpPr/>
          <p:nvPr/>
        </p:nvSpPr>
        <p:spPr>
          <a:xfrm>
            <a:off x="812800" y="1970980"/>
            <a:ext cx="491191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Space Grotesk" pitchFamily="34" charset="0"/>
                <a:ea typeface="Space Grotesk" pitchFamily="34" charset="-122"/>
                <a:cs typeface="Space Grotesk" pitchFamily="34" charset="-120"/>
              </a:rPr>
              <a:t>Landing handshake</a:t>
            </a:r>
            <a:endParaRPr lang="en-US" sz="2200" dirty="0"/>
          </a:p>
        </p:txBody>
      </p:sp>
      <p:sp>
        <p:nvSpPr>
          <p:cNvPr id="5" name="Shape 3"/>
          <p:cNvSpPr/>
          <p:nvPr/>
        </p:nvSpPr>
        <p:spPr>
          <a:xfrm>
            <a:off x="812800" y="2436416"/>
            <a:ext cx="4768850" cy="0"/>
          </a:xfrm>
          <a:prstGeom prst="line">
            <a:avLst/>
          </a:prstGeom>
          <a:noFill/>
          <a:ln w="6350">
            <a:solidFill>
              <a:srgbClr val="C9C7BF"/>
            </a:solidFill>
            <a:prstDash val="solid"/>
          </a:ln>
        </p:spPr>
      </p:sp>
      <p:sp>
        <p:nvSpPr>
          <p:cNvPr id="6" name="Text 4"/>
          <p:cNvSpPr/>
          <p:nvPr/>
        </p:nvSpPr>
        <p:spPr>
          <a:xfrm>
            <a:off x="812800" y="255895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Drone</a:t>
            </a:r>
            <a:endParaRPr lang="en-US" sz="1200" dirty="0"/>
          </a:p>
        </p:txBody>
      </p:sp>
      <p:sp>
        <p:nvSpPr>
          <p:cNvPr id="7" name="Text 5"/>
          <p:cNvSpPr/>
          <p:nvPr/>
        </p:nvSpPr>
        <p:spPr>
          <a:xfrm>
            <a:off x="1727200" y="2541191"/>
            <a:ext cx="39700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READY_TO_LAND</a:t>
            </a:r>
            <a:endParaRPr lang="en-US" sz="1400" dirty="0"/>
          </a:p>
        </p:txBody>
      </p:sp>
      <p:sp>
        <p:nvSpPr>
          <p:cNvPr id="8" name="Shape 6"/>
          <p:cNvSpPr/>
          <p:nvPr/>
        </p:nvSpPr>
        <p:spPr>
          <a:xfrm>
            <a:off x="812800" y="3021856"/>
            <a:ext cx="4768850" cy="0"/>
          </a:xfrm>
          <a:prstGeom prst="line">
            <a:avLst/>
          </a:prstGeom>
          <a:noFill/>
          <a:ln w="6350">
            <a:solidFill>
              <a:srgbClr val="C9C7BF"/>
            </a:solidFill>
            <a:prstDash val="solid"/>
          </a:ln>
        </p:spPr>
      </p:sp>
      <p:sp>
        <p:nvSpPr>
          <p:cNvPr id="9" name="Text 7"/>
          <p:cNvSpPr/>
          <p:nvPr/>
        </p:nvSpPr>
        <p:spPr>
          <a:xfrm>
            <a:off x="812800" y="314439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6481A"/>
                </a:solidFill>
                <a:latin typeface="IBM Plex Sans" pitchFamily="34" charset="0"/>
                <a:ea typeface="IBM Plex Sans" pitchFamily="34" charset="-122"/>
                <a:cs typeface="IBM Plex Sans" pitchFamily="34" charset="-120"/>
              </a:rPr>
              <a:t>Truck</a:t>
            </a:r>
            <a:endParaRPr lang="en-US" sz="1200" dirty="0"/>
          </a:p>
        </p:txBody>
      </p:sp>
      <p:sp>
        <p:nvSpPr>
          <p:cNvPr id="10" name="Text 8"/>
          <p:cNvSpPr/>
          <p:nvPr/>
        </p:nvSpPr>
        <p:spPr>
          <a:xfrm>
            <a:off x="1727200" y="3126631"/>
            <a:ext cx="39700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LANDING_OK</a:t>
            </a:r>
            <a:endParaRPr lang="en-US" sz="1400" dirty="0"/>
          </a:p>
        </p:txBody>
      </p:sp>
      <p:sp>
        <p:nvSpPr>
          <p:cNvPr id="11" name="Shape 9"/>
          <p:cNvSpPr/>
          <p:nvPr/>
        </p:nvSpPr>
        <p:spPr>
          <a:xfrm>
            <a:off x="812800" y="3607296"/>
            <a:ext cx="4768850" cy="0"/>
          </a:xfrm>
          <a:prstGeom prst="line">
            <a:avLst/>
          </a:prstGeom>
          <a:noFill/>
          <a:ln w="6350">
            <a:solidFill>
              <a:srgbClr val="C9C7BF"/>
            </a:solidFill>
            <a:prstDash val="solid"/>
          </a:ln>
        </p:spPr>
      </p:sp>
      <p:sp>
        <p:nvSpPr>
          <p:cNvPr id="12" name="Text 10"/>
          <p:cNvSpPr/>
          <p:nvPr/>
        </p:nvSpPr>
        <p:spPr>
          <a:xfrm>
            <a:off x="812800" y="385430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6481A"/>
                </a:solidFill>
                <a:latin typeface="IBM Plex Sans" pitchFamily="34" charset="0"/>
                <a:ea typeface="IBM Plex Sans" pitchFamily="34" charset="-122"/>
                <a:cs typeface="IBM Plex Sans" pitchFamily="34" charset="-120"/>
              </a:rPr>
              <a:t>Truck</a:t>
            </a:r>
            <a:endParaRPr lang="en-US" sz="1200" dirty="0"/>
          </a:p>
        </p:txBody>
      </p:sp>
      <p:sp>
        <p:nvSpPr>
          <p:cNvPr id="13" name="Text 11"/>
          <p:cNvSpPr/>
          <p:nvPr/>
        </p:nvSpPr>
        <p:spPr>
          <a:xfrm>
            <a:off x="1727200" y="3712071"/>
            <a:ext cx="39700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commits to constant speed to the end of the zone</a:t>
            </a:r>
            <a:endParaRPr lang="en-US" sz="1400" dirty="0"/>
          </a:p>
        </p:txBody>
      </p:sp>
      <p:sp>
        <p:nvSpPr>
          <p:cNvPr id="14" name="Shape 12"/>
          <p:cNvSpPr/>
          <p:nvPr/>
        </p:nvSpPr>
        <p:spPr>
          <a:xfrm>
            <a:off x="812800" y="4441627"/>
            <a:ext cx="4768850" cy="0"/>
          </a:xfrm>
          <a:prstGeom prst="line">
            <a:avLst/>
          </a:prstGeom>
          <a:noFill/>
          <a:ln w="6350">
            <a:solidFill>
              <a:srgbClr val="C9C7BF"/>
            </a:solidFill>
            <a:prstDash val="solid"/>
          </a:ln>
        </p:spPr>
      </p:sp>
      <p:sp>
        <p:nvSpPr>
          <p:cNvPr id="15" name="Shape 13"/>
          <p:cNvSpPr/>
          <p:nvPr/>
        </p:nvSpPr>
        <p:spPr>
          <a:xfrm>
            <a:off x="812800" y="4900067"/>
            <a:ext cx="4768850" cy="0"/>
          </a:xfrm>
          <a:prstGeom prst="line">
            <a:avLst/>
          </a:prstGeom>
          <a:noFill/>
          <a:ln w="6350">
            <a:solidFill>
              <a:srgbClr val="C9C7BF"/>
            </a:solidFill>
            <a:prstDash val="solid"/>
          </a:ln>
        </p:spPr>
      </p:sp>
      <p:sp>
        <p:nvSpPr>
          <p:cNvPr id="16" name="Text 14"/>
          <p:cNvSpPr/>
          <p:nvPr/>
        </p:nvSpPr>
        <p:spPr>
          <a:xfrm>
            <a:off x="812800" y="4564162"/>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Drone</a:t>
            </a:r>
            <a:endParaRPr lang="en-US" sz="1200" dirty="0"/>
          </a:p>
        </p:txBody>
      </p:sp>
      <p:sp>
        <p:nvSpPr>
          <p:cNvPr id="17" name="Text 15"/>
          <p:cNvSpPr/>
          <p:nvPr/>
        </p:nvSpPr>
        <p:spPr>
          <a:xfrm>
            <a:off x="1727200" y="4546402"/>
            <a:ext cx="39700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LANDED / ABORT</a:t>
            </a:r>
            <a:endParaRPr lang="en-US" sz="1400" dirty="0"/>
          </a:p>
        </p:txBody>
      </p:sp>
      <p:sp>
        <p:nvSpPr>
          <p:cNvPr id="18" name="Shape 16"/>
          <p:cNvSpPr/>
          <p:nvPr/>
        </p:nvSpPr>
        <p:spPr>
          <a:xfrm>
            <a:off x="5991225" y="1974155"/>
            <a:ext cx="5384800" cy="3864670"/>
          </a:xfrm>
          <a:prstGeom prst="roundRect">
            <a:avLst>
              <a:gd name="adj" fmla="val 3204"/>
            </a:avLst>
          </a:prstGeom>
          <a:solidFill>
            <a:srgbClr val="FBFBF8"/>
          </a:solidFill>
          <a:ln w="6350">
            <a:solidFill>
              <a:srgbClr val="DCDAD2"/>
            </a:solidFill>
            <a:prstDash val="solid"/>
          </a:ln>
        </p:spPr>
      </p:sp>
      <p:sp>
        <p:nvSpPr>
          <p:cNvPr id="19" name="Text 17"/>
          <p:cNvSpPr/>
          <p:nvPr/>
        </p:nvSpPr>
        <p:spPr>
          <a:xfrm>
            <a:off x="6299200" y="2282130"/>
            <a:ext cx="491191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Space Grotesk" pitchFamily="34" charset="0"/>
                <a:ea typeface="Space Grotesk" pitchFamily="34" charset="-122"/>
                <a:cs typeface="Space Grotesk" pitchFamily="34" charset="-120"/>
              </a:rPr>
              <a:t>Kalman filter + prediction</a:t>
            </a:r>
            <a:endParaRPr lang="en-US" sz="2200" dirty="0"/>
          </a:p>
        </p:txBody>
      </p:sp>
      <p:sp>
        <p:nvSpPr>
          <p:cNvPr id="20" name="Text 18"/>
          <p:cNvSpPr/>
          <p:nvPr/>
        </p:nvSpPr>
        <p:spPr>
          <a:xfrm>
            <a:off x="6299200" y="2769791"/>
            <a:ext cx="491191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IBM Plex Sans" pitchFamily="34" charset="0"/>
                <a:ea typeface="IBM Plex Sans" pitchFamily="34" charset="-122"/>
                <a:cs typeface="IBM Plex Sans" pitchFamily="34" charset="-120"/>
              </a:rPr>
              <a:t>We add Gaussian noise, latency and dropouts to the truck's pose, like a real radio link.</a:t>
            </a:r>
            <a:endParaRPr lang="en-US" sz="1500" dirty="0"/>
          </a:p>
        </p:txBody>
      </p:sp>
      <p:sp>
        <p:nvSpPr>
          <p:cNvPr id="21" name="Text 19"/>
          <p:cNvSpPr/>
          <p:nvPr/>
        </p:nvSpPr>
        <p:spPr>
          <a:xfrm>
            <a:off x="6299200" y="3455591"/>
            <a:ext cx="491191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IBM Plex Sans" pitchFamily="34" charset="0"/>
                <a:ea typeface="IBM Plex Sans" pitchFamily="34" charset="-122"/>
                <a:cs typeface="IBM Plex Sans" pitchFamily="34" charset="-120"/>
              </a:rPr>
              <a:t>A constant-velocity / constant-turn filter smooths it, then predicts τ seconds ahead.</a:t>
            </a:r>
            <a:endParaRPr lang="en-US" sz="1500" dirty="0"/>
          </a:p>
        </p:txBody>
      </p:sp>
      <p:sp>
        <p:nvSpPr>
          <p:cNvPr id="22" name="Text 20"/>
          <p:cNvSpPr/>
          <p:nvPr/>
        </p:nvSpPr>
        <p:spPr>
          <a:xfrm>
            <a:off x="6299200" y="4141391"/>
            <a:ext cx="491191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IBM Plex Sans" pitchFamily="34" charset="0"/>
                <a:ea typeface="IBM Plex Sans" pitchFamily="34" charset="-122"/>
                <a:cs typeface="IBM Plex Sans" pitchFamily="34" charset="-120"/>
              </a:rPr>
              <a:t>The known road is the prior, so the prediction bends with the road instead of going straight.</a:t>
            </a:r>
            <a:endParaRPr lang="en-US" sz="1500" dirty="0"/>
          </a:p>
        </p:txBody>
      </p:sp>
      <p:sp>
        <p:nvSpPr>
          <p:cNvPr id="23" name="Text 21"/>
          <p:cNvSpPr/>
          <p:nvPr/>
        </p:nvSpPr>
        <p:spPr>
          <a:xfrm>
            <a:off x="6342955" y="6238280"/>
            <a:ext cx="58490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Ideas from Lab 4 (cooperative agents) and Lab 5 (trajectory prediction)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2593330"/>
            <a:ext cx="4185920"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965A"/>
                </a:solidFill>
                <a:latin typeface="IBM Plex Sans" pitchFamily="34" charset="0"/>
                <a:ea typeface="IBM Plex Sans" pitchFamily="34" charset="-122"/>
                <a:cs typeface="IBM Plex Sans" pitchFamily="34" charset="-120"/>
              </a:rPr>
              <a:t>LIVE IN GAZEBO · ~3 MIN</a:t>
            </a:r>
            <a:endParaRPr lang="en-US" sz="1400" dirty="0"/>
          </a:p>
        </p:txBody>
      </p:sp>
      <p:sp>
        <p:nvSpPr>
          <p:cNvPr id="3" name="Text 1"/>
          <p:cNvSpPr/>
          <p:nvPr>
            <p:ph type="title"/>
          </p:nvPr>
        </p:nvSpPr>
        <p:spPr>
          <a:xfrm>
            <a:off x="812800" y="2994620"/>
            <a:ext cx="4185920" cy="1295400"/>
          </a:xfrm>
          <a:prstGeom prst="rect">
            <a:avLst/>
          </a:prstGeom>
          <a:noFill/>
          <a:ln/>
        </p:spPr>
        <p:txBody>
          <a:bodyPr wrap="square" lIns="0" tIns="0" rIns="0" bIns="0" rtlCol="0" anchor="t">
            <a:normAutofit/>
          </a:bodyPr>
          <a:lstStyle/>
          <a:p>
            <a:pPr algn="l" indent="0" marL="0">
              <a:lnSpc>
                <a:spcPts val="10000"/>
              </a:lnSpc>
              <a:buNone/>
            </a:pPr>
            <a:r>
              <a:rPr lang="en-US" sz="10000" b="1" i="0" spc="-200" kern="0" dirty="0">
                <a:solidFill>
                  <a:srgbClr val="F4F3EE"/>
                </a:solidFill>
                <a:latin typeface="Space Grotesk" pitchFamily="34" charset="0"/>
                <a:ea typeface="Space Grotesk" pitchFamily="34" charset="-122"/>
                <a:cs typeface="Space Grotesk" pitchFamily="34" charset="-120"/>
              </a:rPr>
              <a:t>Demo</a:t>
            </a:r>
            <a:endParaRPr lang="en-US" sz="10000" dirty="0"/>
          </a:p>
        </p:txBody>
      </p:sp>
      <p:sp>
        <p:nvSpPr>
          <p:cNvPr id="4" name="Text 2"/>
          <p:cNvSpPr/>
          <p:nvPr/>
        </p:nvSpPr>
        <p:spPr>
          <a:xfrm>
            <a:off x="5486400" y="1724422"/>
            <a:ext cx="6069584"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8FB8EE"/>
                </a:solidFill>
                <a:latin typeface="IBM Plex Sans" pitchFamily="34" charset="0"/>
                <a:ea typeface="IBM Plex Sans" pitchFamily="34" charset="-122"/>
                <a:cs typeface="IBM Plex Sans" pitchFamily="34" charset="-120"/>
              </a:rPr>
              <a:t>WHAT TO WATCH FOR</a:t>
            </a:r>
            <a:endParaRPr lang="en-US" sz="1400" dirty="0"/>
          </a:p>
        </p:txBody>
      </p:sp>
      <p:sp>
        <p:nvSpPr>
          <p:cNvPr id="5" name="Shape 3"/>
          <p:cNvSpPr/>
          <p:nvPr/>
        </p:nvSpPr>
        <p:spPr>
          <a:xfrm>
            <a:off x="5486400" y="2078087"/>
            <a:ext cx="5892800" cy="0"/>
          </a:xfrm>
          <a:prstGeom prst="line">
            <a:avLst/>
          </a:prstGeom>
          <a:noFill/>
          <a:ln w="6350">
            <a:solidFill>
              <a:srgbClr val="34445C"/>
            </a:solidFill>
            <a:prstDash val="solid"/>
          </a:ln>
        </p:spPr>
      </p:sp>
      <p:sp>
        <p:nvSpPr>
          <p:cNvPr id="6" name="Text 4"/>
          <p:cNvSpPr/>
          <p:nvPr/>
        </p:nvSpPr>
        <p:spPr>
          <a:xfrm>
            <a:off x="5486400" y="2233662"/>
            <a:ext cx="17710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65A"/>
                </a:solidFill>
                <a:latin typeface="Space Grotesk" pitchFamily="34" charset="0"/>
                <a:ea typeface="Space Grotesk" pitchFamily="34" charset="-122"/>
                <a:cs typeface="Space Grotesk" pitchFamily="34" charset="-120"/>
              </a:rPr>
              <a:t>1</a:t>
            </a:r>
            <a:endParaRPr lang="en-US" sz="2200" dirty="0"/>
          </a:p>
        </p:txBody>
      </p:sp>
      <p:sp>
        <p:nvSpPr>
          <p:cNvPr id="7" name="Text 5"/>
          <p:cNvSpPr/>
          <p:nvPr/>
        </p:nvSpPr>
        <p:spPr>
          <a:xfrm>
            <a:off x="5815905" y="2306687"/>
            <a:ext cx="3657719"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4F3EE"/>
                </a:solidFill>
                <a:latin typeface="IBM Plex Sans" pitchFamily="34" charset="0"/>
                <a:ea typeface="IBM Plex Sans" pitchFamily="34" charset="-122"/>
                <a:cs typeface="IBM Plex Sans" pitchFamily="34" charset="-120"/>
              </a:rPr>
              <a:t>The truck drives laps on its own</a:t>
            </a:r>
            <a:endParaRPr lang="en-US" sz="1700" dirty="0"/>
          </a:p>
        </p:txBody>
      </p:sp>
      <p:sp>
        <p:nvSpPr>
          <p:cNvPr id="8" name="Shape 6"/>
          <p:cNvSpPr/>
          <p:nvPr/>
        </p:nvSpPr>
        <p:spPr>
          <a:xfrm>
            <a:off x="5486400" y="2780357"/>
            <a:ext cx="5892800" cy="0"/>
          </a:xfrm>
          <a:prstGeom prst="line">
            <a:avLst/>
          </a:prstGeom>
          <a:noFill/>
          <a:ln w="6350">
            <a:solidFill>
              <a:srgbClr val="34445C"/>
            </a:solidFill>
            <a:prstDash val="solid"/>
          </a:ln>
        </p:spPr>
      </p:sp>
      <p:sp>
        <p:nvSpPr>
          <p:cNvPr id="9" name="Text 7"/>
          <p:cNvSpPr/>
          <p:nvPr/>
        </p:nvSpPr>
        <p:spPr>
          <a:xfrm>
            <a:off x="5486400" y="2935932"/>
            <a:ext cx="20746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65A"/>
                </a:solidFill>
                <a:latin typeface="Space Grotesk" pitchFamily="34" charset="0"/>
                <a:ea typeface="Space Grotesk" pitchFamily="34" charset="-122"/>
                <a:cs typeface="Space Grotesk" pitchFamily="34" charset="-120"/>
              </a:rPr>
              <a:t>2</a:t>
            </a:r>
            <a:endParaRPr lang="en-US" sz="2200" dirty="0"/>
          </a:p>
        </p:txBody>
      </p:sp>
      <p:sp>
        <p:nvSpPr>
          <p:cNvPr id="10" name="Text 8"/>
          <p:cNvSpPr/>
          <p:nvPr/>
        </p:nvSpPr>
        <p:spPr>
          <a:xfrm>
            <a:off x="5846266" y="3008957"/>
            <a:ext cx="5698922"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4F3EE"/>
                </a:solidFill>
                <a:latin typeface="IBM Plex Sans" pitchFamily="34" charset="0"/>
                <a:ea typeface="IBM Plex Sans" pitchFamily="34" charset="-122"/>
                <a:cs typeface="IBM Plex Sans" pitchFamily="34" charset="-120"/>
              </a:rPr>
              <a:t>The drone takes off, catches up and holds 4 m above the bed</a:t>
            </a:r>
            <a:endParaRPr lang="en-US" sz="1700" dirty="0"/>
          </a:p>
        </p:txBody>
      </p:sp>
      <p:sp>
        <p:nvSpPr>
          <p:cNvPr id="11" name="Shape 9"/>
          <p:cNvSpPr/>
          <p:nvPr/>
        </p:nvSpPr>
        <p:spPr>
          <a:xfrm>
            <a:off x="5486400" y="3725813"/>
            <a:ext cx="5892800" cy="0"/>
          </a:xfrm>
          <a:prstGeom prst="line">
            <a:avLst/>
          </a:prstGeom>
          <a:noFill/>
          <a:ln w="6350">
            <a:solidFill>
              <a:srgbClr val="34445C"/>
            </a:solidFill>
            <a:prstDash val="solid"/>
          </a:ln>
        </p:spPr>
      </p:sp>
      <p:sp>
        <p:nvSpPr>
          <p:cNvPr id="12" name="Text 10"/>
          <p:cNvSpPr/>
          <p:nvPr/>
        </p:nvSpPr>
        <p:spPr>
          <a:xfrm>
            <a:off x="5486400" y="3881388"/>
            <a:ext cx="2207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65A"/>
                </a:solidFill>
                <a:latin typeface="Space Grotesk" pitchFamily="34" charset="0"/>
                <a:ea typeface="Space Grotesk" pitchFamily="34" charset="-122"/>
                <a:cs typeface="Space Grotesk" pitchFamily="34" charset="-120"/>
              </a:rPr>
              <a:t>3</a:t>
            </a:r>
            <a:endParaRPr lang="en-US" sz="2200" dirty="0"/>
          </a:p>
        </p:txBody>
      </p:sp>
      <p:sp>
        <p:nvSpPr>
          <p:cNvPr id="13" name="Text 11"/>
          <p:cNvSpPr/>
          <p:nvPr/>
        </p:nvSpPr>
        <p:spPr>
          <a:xfrm>
            <a:off x="5859512" y="3954413"/>
            <a:ext cx="551968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4F3EE"/>
                </a:solidFill>
                <a:latin typeface="IBM Plex Sans" pitchFamily="34" charset="0"/>
                <a:ea typeface="IBM Plex Sans" pitchFamily="34" charset="-122"/>
                <a:cs typeface="IBM Plex Sans" pitchFamily="34" charset="-120"/>
              </a:rPr>
              <a:t>Handshake in a landing zone, descent, touchdown</a:t>
            </a:r>
            <a:endParaRPr lang="en-US" sz="1700" dirty="0"/>
          </a:p>
        </p:txBody>
      </p:sp>
      <p:sp>
        <p:nvSpPr>
          <p:cNvPr id="14" name="Shape 12"/>
          <p:cNvSpPr/>
          <p:nvPr/>
        </p:nvSpPr>
        <p:spPr>
          <a:xfrm>
            <a:off x="5486400" y="4428083"/>
            <a:ext cx="5892800" cy="0"/>
          </a:xfrm>
          <a:prstGeom prst="line">
            <a:avLst/>
          </a:prstGeom>
          <a:noFill/>
          <a:ln w="6350">
            <a:solidFill>
              <a:srgbClr val="34445C"/>
            </a:solidFill>
            <a:prstDash val="solid"/>
          </a:ln>
        </p:spPr>
      </p:sp>
      <p:sp>
        <p:nvSpPr>
          <p:cNvPr id="15" name="Shape 13"/>
          <p:cNvSpPr/>
          <p:nvPr/>
        </p:nvSpPr>
        <p:spPr>
          <a:xfrm>
            <a:off x="5486400" y="5130354"/>
            <a:ext cx="5892800" cy="0"/>
          </a:xfrm>
          <a:prstGeom prst="line">
            <a:avLst/>
          </a:prstGeom>
          <a:noFill/>
          <a:ln w="6350">
            <a:solidFill>
              <a:srgbClr val="34445C"/>
            </a:solidFill>
            <a:prstDash val="solid"/>
          </a:ln>
        </p:spPr>
      </p:sp>
      <p:sp>
        <p:nvSpPr>
          <p:cNvPr id="16" name="Text 14"/>
          <p:cNvSpPr/>
          <p:nvPr/>
        </p:nvSpPr>
        <p:spPr>
          <a:xfrm>
            <a:off x="5486400" y="4583658"/>
            <a:ext cx="22850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65A"/>
                </a:solidFill>
                <a:latin typeface="Space Grotesk" pitchFamily="34" charset="0"/>
                <a:ea typeface="Space Grotesk" pitchFamily="34" charset="-122"/>
                <a:cs typeface="Space Grotesk" pitchFamily="34" charset="-120"/>
              </a:rPr>
              <a:t>4</a:t>
            </a:r>
            <a:endParaRPr lang="en-US" sz="2200" dirty="0"/>
          </a:p>
        </p:txBody>
      </p:sp>
      <p:sp>
        <p:nvSpPr>
          <p:cNvPr id="17" name="Text 15"/>
          <p:cNvSpPr/>
          <p:nvPr/>
        </p:nvSpPr>
        <p:spPr>
          <a:xfrm>
            <a:off x="5867301" y="4656683"/>
            <a:ext cx="4971752"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4F3EE"/>
                </a:solidFill>
                <a:latin typeface="IBM Plex Sans" pitchFamily="34" charset="0"/>
                <a:ea typeface="IBM Plex Sans" pitchFamily="34" charset="-122"/>
                <a:cs typeface="IBM Plex Sans" pitchFamily="34" charset="-120"/>
              </a:rPr>
              <a:t>It stays on the bed through the next curves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RESULTS</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How well does it work?</a:t>
            </a:r>
            <a:endParaRPr lang="en-US" sz="3600" dirty="0"/>
          </a:p>
        </p:txBody>
      </p:sp>
      <p:sp>
        <p:nvSpPr>
          <p:cNvPr id="4" name="Shape 2"/>
          <p:cNvSpPr/>
          <p:nvPr/>
        </p:nvSpPr>
        <p:spPr>
          <a:xfrm>
            <a:off x="812800" y="2034480"/>
            <a:ext cx="2489200" cy="0"/>
          </a:xfrm>
          <a:prstGeom prst="line">
            <a:avLst/>
          </a:prstGeom>
          <a:noFill/>
          <a:ln w="25400">
            <a:solidFill>
              <a:srgbClr val="C2581A"/>
            </a:solidFill>
            <a:prstDash val="solid"/>
          </a:ln>
        </p:spPr>
      </p:sp>
      <p:sp>
        <p:nvSpPr>
          <p:cNvPr id="5" name="Text 3"/>
          <p:cNvSpPr/>
          <p:nvPr/>
        </p:nvSpPr>
        <p:spPr>
          <a:xfrm>
            <a:off x="812800" y="2250380"/>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1B2D"/>
                </a:solidFill>
                <a:latin typeface="Space Grotesk" pitchFamily="34" charset="0"/>
                <a:ea typeface="Space Grotesk" pitchFamily="34" charset="-122"/>
                <a:cs typeface="Space Grotesk" pitchFamily="34" charset="-120"/>
              </a:rPr>
              <a:t>[__] m</a:t>
            </a:r>
            <a:endParaRPr lang="en-US" sz="4800" dirty="0"/>
          </a:p>
        </p:txBody>
      </p:sp>
      <p:sp>
        <p:nvSpPr>
          <p:cNvPr id="6" name="Text 4"/>
          <p:cNvSpPr/>
          <p:nvPr/>
        </p:nvSpPr>
        <p:spPr>
          <a:xfrm>
            <a:off x="812800" y="2936180"/>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Truck lateral error, hairpins (goal &lt; 1.0 m)</a:t>
            </a:r>
            <a:endParaRPr lang="en-US" sz="1400" dirty="0"/>
          </a:p>
        </p:txBody>
      </p:sp>
      <p:sp>
        <p:nvSpPr>
          <p:cNvPr id="7" name="Shape 5"/>
          <p:cNvSpPr/>
          <p:nvPr/>
        </p:nvSpPr>
        <p:spPr>
          <a:xfrm>
            <a:off x="3505200" y="2034480"/>
            <a:ext cx="2489200" cy="0"/>
          </a:xfrm>
          <a:prstGeom prst="line">
            <a:avLst/>
          </a:prstGeom>
          <a:noFill/>
          <a:ln w="25400">
            <a:solidFill>
              <a:srgbClr val="1F5FAF"/>
            </a:solidFill>
            <a:prstDash val="solid"/>
          </a:ln>
        </p:spPr>
      </p:sp>
      <p:sp>
        <p:nvSpPr>
          <p:cNvPr id="8" name="Text 6"/>
          <p:cNvSpPr/>
          <p:nvPr/>
        </p:nvSpPr>
        <p:spPr>
          <a:xfrm>
            <a:off x="3505200" y="2250380"/>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1B2D"/>
                </a:solidFill>
                <a:latin typeface="Space Grotesk" pitchFamily="34" charset="0"/>
                <a:ea typeface="Space Grotesk" pitchFamily="34" charset="-122"/>
                <a:cs typeface="Space Grotesk" pitchFamily="34" charset="-120"/>
              </a:rPr>
              <a:t>[__] m</a:t>
            </a:r>
            <a:endParaRPr lang="en-US" sz="4800" dirty="0"/>
          </a:p>
        </p:txBody>
      </p:sp>
      <p:sp>
        <p:nvSpPr>
          <p:cNvPr id="9" name="Text 7"/>
          <p:cNvSpPr/>
          <p:nvPr/>
        </p:nvSpPr>
        <p:spPr>
          <a:xfrm>
            <a:off x="3505200" y="2936180"/>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Drone tracking error, straights (goal &lt; 0.3 m)</a:t>
            </a:r>
            <a:endParaRPr lang="en-US" sz="1400" dirty="0"/>
          </a:p>
        </p:txBody>
      </p:sp>
      <p:sp>
        <p:nvSpPr>
          <p:cNvPr id="10" name="Shape 8"/>
          <p:cNvSpPr/>
          <p:nvPr/>
        </p:nvSpPr>
        <p:spPr>
          <a:xfrm>
            <a:off x="6197600" y="2034480"/>
            <a:ext cx="2489200" cy="0"/>
          </a:xfrm>
          <a:prstGeom prst="line">
            <a:avLst/>
          </a:prstGeom>
          <a:noFill/>
          <a:ln w="25400">
            <a:solidFill>
              <a:srgbClr val="1F5FAF"/>
            </a:solidFill>
            <a:prstDash val="solid"/>
          </a:ln>
        </p:spPr>
      </p:sp>
      <p:sp>
        <p:nvSpPr>
          <p:cNvPr id="11" name="Text 9"/>
          <p:cNvSpPr/>
          <p:nvPr/>
        </p:nvSpPr>
        <p:spPr>
          <a:xfrm>
            <a:off x="6197600" y="2250380"/>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1B2D"/>
                </a:solidFill>
                <a:latin typeface="Space Grotesk" pitchFamily="34" charset="0"/>
                <a:ea typeface="Space Grotesk" pitchFamily="34" charset="-122"/>
                <a:cs typeface="Space Grotesk" pitchFamily="34" charset="-120"/>
              </a:rPr>
              <a:t>[__] %</a:t>
            </a:r>
            <a:endParaRPr lang="en-US" sz="4800" dirty="0"/>
          </a:p>
        </p:txBody>
      </p:sp>
      <p:sp>
        <p:nvSpPr>
          <p:cNvPr id="12" name="Text 10"/>
          <p:cNvSpPr/>
          <p:nvPr/>
        </p:nvSpPr>
        <p:spPr>
          <a:xfrm>
            <a:off x="6197600" y="2936180"/>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Landing success rate over [N] runs</a:t>
            </a:r>
            <a:endParaRPr lang="en-US" sz="1400" dirty="0"/>
          </a:p>
        </p:txBody>
      </p:sp>
      <p:sp>
        <p:nvSpPr>
          <p:cNvPr id="13" name="Shape 11"/>
          <p:cNvSpPr/>
          <p:nvPr/>
        </p:nvSpPr>
        <p:spPr>
          <a:xfrm>
            <a:off x="8890000" y="2034480"/>
            <a:ext cx="2489200" cy="0"/>
          </a:xfrm>
          <a:prstGeom prst="line">
            <a:avLst/>
          </a:prstGeom>
          <a:noFill/>
          <a:ln w="25400">
            <a:solidFill>
              <a:srgbClr val="1F5FAF"/>
            </a:solidFill>
            <a:prstDash val="solid"/>
          </a:ln>
        </p:spPr>
      </p:sp>
      <p:sp>
        <p:nvSpPr>
          <p:cNvPr id="14" name="Text 12"/>
          <p:cNvSpPr/>
          <p:nvPr/>
        </p:nvSpPr>
        <p:spPr>
          <a:xfrm>
            <a:off x="8890000" y="2250380"/>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1B2D"/>
                </a:solidFill>
                <a:latin typeface="Space Grotesk" pitchFamily="34" charset="0"/>
                <a:ea typeface="Space Grotesk" pitchFamily="34" charset="-122"/>
                <a:cs typeface="Space Grotesk" pitchFamily="34" charset="-120"/>
              </a:rPr>
              <a:t>[__] cm</a:t>
            </a:r>
            <a:endParaRPr lang="en-US" sz="4800" dirty="0"/>
          </a:p>
        </p:txBody>
      </p:sp>
      <p:sp>
        <p:nvSpPr>
          <p:cNvPr id="15" name="Text 13"/>
          <p:cNvSpPr/>
          <p:nvPr/>
        </p:nvSpPr>
        <p:spPr>
          <a:xfrm>
            <a:off x="8890000" y="2936180"/>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Touchdown error from bed center</a:t>
            </a:r>
            <a:endParaRPr lang="en-US" sz="1400" dirty="0"/>
          </a:p>
        </p:txBody>
      </p:sp>
      <p:sp>
        <p:nvSpPr>
          <p:cNvPr id="16" name="Text 14"/>
          <p:cNvSpPr/>
          <p:nvPr/>
        </p:nvSpPr>
        <p:spPr>
          <a:xfrm>
            <a:off x="819150" y="3778151"/>
            <a:ext cx="10553700" cy="2057499"/>
          </a:xfrm>
          <a:prstGeom prst="roundRect">
            <a:avLst>
              <a:gd name="adj" fmla="val 5864"/>
            </a:avLst>
          </a:prstGeom>
          <a:solidFill>
            <a:srgbClr val="FBFBF8"/>
          </a:solidFill>
          <a:ln w="12700">
            <a:solidFill>
              <a:srgbClr val="C9C7BF"/>
            </a:solidFill>
            <a:prstDash val="dash"/>
          </a:ln>
        </p:spPr>
        <p:txBody>
          <a:bodyPr wrap="square" lIns="0" tIns="0" rIns="0" bIns="0" rtlCol="0" anchor="ctr">
            <a:normAutofit/>
          </a:bodyPr>
          <a:lstStyle/>
          <a:p>
            <a:pPr algn="ctr" indent="0" marL="0">
              <a:lnSpc>
                <a:spcPts val="1960"/>
              </a:lnSpc>
              <a:buNone/>
            </a:pPr>
            <a:r>
              <a:rPr lang="en-US" sz="1400" dirty="0">
                <a:solidFill>
                  <a:srgbClr val="6B7684"/>
                </a:solidFill>
                <a:latin typeface="IBM Plex Sans" pitchFamily="34" charset="0"/>
                <a:ea typeface="IBM Plex Sans" pitchFamily="34" charset="-122"/>
                <a:cs typeface="IBM Plex Sans" pitchFamily="34" charset="-120"/>
              </a:rPr>
              <a:t>[Plot: success rate vs. truck speed 2–8 m/s, with and without noise/latency]</a:t>
            </a:r>
            <a:endParaRPr lang="en-US" sz="1400" dirty="0"/>
          </a:p>
        </p:txBody>
      </p:sp>
      <p:sp>
        <p:nvSpPr>
          <p:cNvPr id="17" name="Text 15"/>
          <p:cNvSpPr/>
          <p:nvPr/>
        </p:nvSpPr>
        <p:spPr>
          <a:xfrm>
            <a:off x="7473305" y="6238280"/>
            <a:ext cx="46870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Seeded batch runs, logged to CSV by the logger node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F5FAF"/>
                </a:solidFill>
                <a:latin typeface="IBM Plex Sans" pitchFamily="34" charset="0"/>
                <a:ea typeface="IBM Plex Sans" pitchFamily="34" charset="-122"/>
                <a:cs typeface="IBM Plex Sans" pitchFamily="34" charset="-120"/>
              </a:rPr>
              <a:t>WRAP-UP</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1B2D"/>
                </a:solidFill>
                <a:latin typeface="Space Grotesk" pitchFamily="34" charset="0"/>
                <a:ea typeface="Space Grotesk" pitchFamily="34" charset="-122"/>
                <a:cs typeface="Space Grotesk" pitchFamily="34" charset="-120"/>
              </a:rPr>
              <a:t>What we take with us</a:t>
            </a:r>
            <a:endParaRPr lang="en-US" sz="3600" dirty="0"/>
          </a:p>
        </p:txBody>
      </p:sp>
      <p:sp>
        <p:nvSpPr>
          <p:cNvPr id="4" name="Shape 2"/>
          <p:cNvSpPr/>
          <p:nvPr/>
        </p:nvSpPr>
        <p:spPr>
          <a:xfrm>
            <a:off x="812800" y="2028130"/>
            <a:ext cx="5730230" cy="0"/>
          </a:xfrm>
          <a:prstGeom prst="line">
            <a:avLst/>
          </a:prstGeom>
          <a:noFill/>
          <a:ln w="12700">
            <a:solidFill>
              <a:srgbClr val="0F1B2D"/>
            </a:solidFill>
            <a:prstDash val="solid"/>
          </a:ln>
        </p:spPr>
      </p:sp>
      <p:sp>
        <p:nvSpPr>
          <p:cNvPr id="5" name="Text 3"/>
          <p:cNvSpPr/>
          <p:nvPr/>
        </p:nvSpPr>
        <p:spPr>
          <a:xfrm>
            <a:off x="812800" y="2186880"/>
            <a:ext cx="5902137"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1B2D"/>
                </a:solidFill>
                <a:latin typeface="Space Grotesk" pitchFamily="34" charset="0"/>
                <a:ea typeface="Space Grotesk" pitchFamily="34" charset="-122"/>
                <a:cs typeface="Space Grotesk" pitchFamily="34" charset="-120"/>
              </a:rPr>
              <a:t>Feedforward first</a:t>
            </a:r>
            <a:endParaRPr lang="en-US" sz="1800" dirty="0"/>
          </a:p>
        </p:txBody>
      </p:sp>
      <p:sp>
        <p:nvSpPr>
          <p:cNvPr id="6" name="Text 4"/>
          <p:cNvSpPr/>
          <p:nvPr/>
        </p:nvSpPr>
        <p:spPr>
          <a:xfrm>
            <a:off x="812800" y="2557711"/>
            <a:ext cx="590213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Knowing the truck's velocity mattered more than tuning gains.</a:t>
            </a:r>
            <a:endParaRPr lang="en-US" sz="1400" dirty="0"/>
          </a:p>
        </p:txBody>
      </p:sp>
      <p:sp>
        <p:nvSpPr>
          <p:cNvPr id="7" name="Shape 5"/>
          <p:cNvSpPr/>
          <p:nvPr/>
        </p:nvSpPr>
        <p:spPr>
          <a:xfrm>
            <a:off x="812800" y="2953296"/>
            <a:ext cx="5730230" cy="0"/>
          </a:xfrm>
          <a:prstGeom prst="line">
            <a:avLst/>
          </a:prstGeom>
          <a:noFill/>
          <a:ln w="6350">
            <a:solidFill>
              <a:srgbClr val="C9C7BF"/>
            </a:solidFill>
            <a:prstDash val="solid"/>
          </a:ln>
        </p:spPr>
      </p:sp>
      <p:sp>
        <p:nvSpPr>
          <p:cNvPr id="8" name="Text 6"/>
          <p:cNvSpPr/>
          <p:nvPr/>
        </p:nvSpPr>
        <p:spPr>
          <a:xfrm>
            <a:off x="812800" y="3108871"/>
            <a:ext cx="5902137"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1B2D"/>
                </a:solidFill>
                <a:latin typeface="Space Grotesk" pitchFamily="34" charset="0"/>
                <a:ea typeface="Space Grotesk" pitchFamily="34" charset="-122"/>
                <a:cs typeface="Space Grotesk" pitchFamily="34" charset="-120"/>
              </a:rPr>
              <a:t>Frames in one place</a:t>
            </a:r>
            <a:endParaRPr lang="en-US" sz="1800" dirty="0"/>
          </a:p>
        </p:txBody>
      </p:sp>
      <p:sp>
        <p:nvSpPr>
          <p:cNvPr id="9" name="Text 7"/>
          <p:cNvSpPr/>
          <p:nvPr/>
        </p:nvSpPr>
        <p:spPr>
          <a:xfrm>
            <a:off x="812800" y="3479701"/>
            <a:ext cx="590213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ENU vs. NED and spawn offsets cause silent bugs. Keep them in one file.</a:t>
            </a:r>
            <a:endParaRPr lang="en-US" sz="1400" dirty="0"/>
          </a:p>
        </p:txBody>
      </p:sp>
      <p:sp>
        <p:nvSpPr>
          <p:cNvPr id="10" name="Shape 8"/>
          <p:cNvSpPr/>
          <p:nvPr/>
        </p:nvSpPr>
        <p:spPr>
          <a:xfrm>
            <a:off x="812800" y="4115296"/>
            <a:ext cx="5730230" cy="0"/>
          </a:xfrm>
          <a:prstGeom prst="line">
            <a:avLst/>
          </a:prstGeom>
          <a:noFill/>
          <a:ln w="6350">
            <a:solidFill>
              <a:srgbClr val="C9C7BF"/>
            </a:solidFill>
            <a:prstDash val="solid"/>
          </a:ln>
        </p:spPr>
      </p:sp>
      <p:sp>
        <p:nvSpPr>
          <p:cNvPr id="11" name="Shape 9"/>
          <p:cNvSpPr/>
          <p:nvPr/>
        </p:nvSpPr>
        <p:spPr>
          <a:xfrm>
            <a:off x="812800" y="5277296"/>
            <a:ext cx="5730230" cy="0"/>
          </a:xfrm>
          <a:prstGeom prst="line">
            <a:avLst/>
          </a:prstGeom>
          <a:noFill/>
          <a:ln w="6350">
            <a:solidFill>
              <a:srgbClr val="C9C7BF"/>
            </a:solidFill>
            <a:prstDash val="solid"/>
          </a:ln>
        </p:spPr>
      </p:sp>
      <p:sp>
        <p:nvSpPr>
          <p:cNvPr id="12" name="Text 10"/>
          <p:cNvSpPr/>
          <p:nvPr/>
        </p:nvSpPr>
        <p:spPr>
          <a:xfrm>
            <a:off x="812800" y="4270871"/>
            <a:ext cx="5902137"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1B2D"/>
                </a:solidFill>
                <a:latin typeface="Space Grotesk" pitchFamily="34" charset="0"/>
                <a:ea typeface="Space Grotesk" pitchFamily="34" charset="-122"/>
                <a:cs typeface="Space Grotesk" pitchFamily="34" charset="-120"/>
              </a:rPr>
              <a:t>Cooperation is cheap safety</a:t>
            </a:r>
            <a:endParaRPr lang="en-US" sz="1800" dirty="0"/>
          </a:p>
        </p:txBody>
      </p:sp>
      <p:sp>
        <p:nvSpPr>
          <p:cNvPr id="13" name="Text 11"/>
          <p:cNvSpPr/>
          <p:nvPr/>
        </p:nvSpPr>
        <p:spPr>
          <a:xfrm>
            <a:off x="812800" y="4641701"/>
            <a:ext cx="590213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A5C"/>
                </a:solidFill>
                <a:latin typeface="IBM Plex Sans" pitchFamily="34" charset="0"/>
                <a:ea typeface="IBM Plex Sans" pitchFamily="34" charset="-122"/>
                <a:cs typeface="IBM Plex Sans" pitchFamily="34" charset="-120"/>
              </a:rPr>
              <a:t>One promise from the truck, constant speed, makes the landing much easier.</a:t>
            </a:r>
            <a:endParaRPr lang="en-US" sz="1400" dirty="0"/>
          </a:p>
        </p:txBody>
      </p:sp>
      <p:sp>
        <p:nvSpPr>
          <p:cNvPr id="14" name="Shape 12"/>
          <p:cNvSpPr/>
          <p:nvPr/>
        </p:nvSpPr>
        <p:spPr>
          <a:xfrm>
            <a:off x="6949430" y="2021780"/>
            <a:ext cx="4429770" cy="3820220"/>
          </a:xfrm>
          <a:prstGeom prst="roundRect">
            <a:avLst>
              <a:gd name="adj" fmla="val 3324"/>
            </a:avLst>
          </a:prstGeom>
          <a:solidFill>
            <a:srgbClr val="0F1B2D"/>
          </a:solidFill>
          <a:ln/>
        </p:spPr>
      </p:sp>
      <p:sp>
        <p:nvSpPr>
          <p:cNvPr id="15" name="Text 13"/>
          <p:cNvSpPr/>
          <p:nvPr/>
        </p:nvSpPr>
        <p:spPr>
          <a:xfrm>
            <a:off x="7254230" y="2326580"/>
            <a:ext cx="3934775"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8FB8EE"/>
                </a:solidFill>
                <a:latin typeface="IBM Plex Sans" pitchFamily="34" charset="0"/>
                <a:ea typeface="IBM Plex Sans" pitchFamily="34" charset="-122"/>
                <a:cs typeface="IBM Plex Sans" pitchFamily="34" charset="-120"/>
              </a:rPr>
              <a:t>NEXT STEPS</a:t>
            </a:r>
            <a:endParaRPr lang="en-US" sz="1400" dirty="0"/>
          </a:p>
        </p:txBody>
      </p:sp>
      <p:sp>
        <p:nvSpPr>
          <p:cNvPr id="16" name="Text 14"/>
          <p:cNvSpPr/>
          <p:nvPr/>
        </p:nvSpPr>
        <p:spPr>
          <a:xfrm>
            <a:off x="7254230" y="2702471"/>
            <a:ext cx="3934775"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3EE"/>
                </a:solidFill>
                <a:latin typeface="IBM Plex Sans" pitchFamily="34" charset="0"/>
                <a:ea typeface="IBM Plex Sans" pitchFamily="34" charset="-122"/>
                <a:cs typeface="IBM Plex Sans" pitchFamily="34" charset="-120"/>
              </a:rPr>
              <a:t>Downward camera + AprilTag on the bed</a:t>
            </a:r>
            <a:endParaRPr lang="en-US" sz="1600" dirty="0"/>
          </a:p>
        </p:txBody>
      </p:sp>
      <p:sp>
        <p:nvSpPr>
          <p:cNvPr id="17" name="Text 15"/>
          <p:cNvSpPr/>
          <p:nvPr/>
        </p:nvSpPr>
        <p:spPr>
          <a:xfrm>
            <a:off x="7254230" y="3103761"/>
            <a:ext cx="3934775"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3EE"/>
                </a:solidFill>
                <a:latin typeface="IBM Plex Sans" pitchFamily="34" charset="0"/>
                <a:ea typeface="IBM Plex Sans" pitchFamily="34" charset="-122"/>
                <a:cs typeface="IBM Plex Sans" pitchFamily="34" charset="-120"/>
              </a:rPr>
              <a:t>Latch the drone so it stays on in curves</a:t>
            </a:r>
            <a:endParaRPr lang="en-US" sz="1600" dirty="0"/>
          </a:p>
        </p:txBody>
      </p:sp>
      <p:sp>
        <p:nvSpPr>
          <p:cNvPr id="18" name="Text 16"/>
          <p:cNvSpPr/>
          <p:nvPr/>
        </p:nvSpPr>
        <p:spPr>
          <a:xfrm>
            <a:off x="7254230" y="3505051"/>
            <a:ext cx="3934775"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3EE"/>
                </a:solidFill>
                <a:latin typeface="IBM Plex Sans" pitchFamily="34" charset="0"/>
                <a:ea typeface="IBM Plex Sans" pitchFamily="34" charset="-122"/>
                <a:cs typeface="IBM Plex Sans" pitchFamily="34" charset="-120"/>
              </a:rPr>
              <a:t>Wind and rotor downwash</a:t>
            </a:r>
            <a:endParaRPr lang="en-US" sz="1600" dirty="0"/>
          </a:p>
        </p:txBody>
      </p:sp>
      <p:sp>
        <p:nvSpPr>
          <p:cNvPr id="19" name="Text 17"/>
          <p:cNvSpPr/>
          <p:nvPr/>
        </p:nvSpPr>
        <p:spPr>
          <a:xfrm>
            <a:off x="7254230" y="5039370"/>
            <a:ext cx="3934775"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965A"/>
                </a:solidFill>
                <a:latin typeface="Space Grotesk" pitchFamily="34" charset="0"/>
                <a:ea typeface="Space Grotesk" pitchFamily="34" charset="-122"/>
                <a:cs typeface="Space Grotesk" pitchFamily="34" charset="-120"/>
              </a:rPr>
              <a:t>Questions?</a:t>
            </a:r>
            <a:endParaRPr lang="en-US" sz="2800" dirty="0"/>
          </a:p>
        </p:txBody>
      </p:sp>
      <p:sp>
        <p:nvSpPr>
          <p:cNvPr id="20" name="Text 18"/>
          <p:cNvSpPr/>
          <p:nvPr/>
        </p:nvSpPr>
        <p:spPr>
          <a:xfrm>
            <a:off x="10067181" y="6238280"/>
            <a:ext cx="15744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Flatbed Falcon · 12</a:t>
            </a:r>
            <a:endParaRPr lang="en-US" sz="1200" dirty="0"/>
          </a:p>
        </p:txBody>
      </p:sp>
    </p:spTree>
  </p:cSld>
  <p:clrMapOvr>
    <a:masterClrMapping/>
  </p:clrMapOvr>
</p:sld>
</file>

<file path=ppt/theme/theme1.xml><?xml version="1.0" encoding="utf-8"?>
<a:theme xmlns:a="http://schemas.openxmlformats.org/drawingml/2006/main" name="Flatbed Falcon">
  <a:themeElements>
    <a:clrScheme name="Flatbed Falcon">
      <a:dk1>
        <a:srgbClr val="0F1B2D"/>
      </a:dk1>
      <a:lt1>
        <a:srgbClr val="F4F3EE"/>
      </a:lt1>
      <a:dk2>
        <a:srgbClr val="48515D"/>
      </a:dk2>
      <a:lt2>
        <a:srgbClr val="DDDDDB"/>
      </a:lt2>
      <a:accent1>
        <a:srgbClr val="1F5FAF"/>
      </a:accent1>
      <a:accent2>
        <a:srgbClr val="A6481A"/>
      </a:accent2>
      <a:accent3>
        <a:srgbClr val="F0965A"/>
      </a:accent3>
      <a:accent4>
        <a:srgbClr val="8FB8EE"/>
      </a:accent4>
      <a:accent5>
        <a:srgbClr val="C2581A"/>
      </a:accent5>
      <a:accent6>
        <a:srgbClr val="3D4A5C"/>
      </a:accent6>
      <a:hlink>
        <a:srgbClr val="0563C1"/>
      </a:hlink>
      <a:folHlink>
        <a:srgbClr val="954F72"/>
      </a:folHlink>
    </a:clrScheme>
    <a:fontScheme name="Flatbed Falc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Flatbed Falcon</dc:title>
  <dc:subject/>
  <dc:creator/>
  <cp:lastModifiedBy/>
  <cp:revision>1</cp:revision>
  <dcterms:created xsi:type="dcterms:W3CDTF">2026-10-13T14:03:06Z</dcterms:created>
  <dcterms:modified xsi:type="dcterms:W3CDTF">2026-10-13T14:03:06Z</dcterms:modified>
</cp:coreProperties>
</file>